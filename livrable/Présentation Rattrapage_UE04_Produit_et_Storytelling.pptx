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0" r:id="rId3"/>
    <p:sldId id="269" r:id="rId4"/>
    <p:sldId id="271" r:id="rId5"/>
    <p:sldId id="272" r:id="rId6"/>
    <p:sldId id="273" r:id="rId7"/>
    <p:sldId id="274" r:id="rId8"/>
    <p:sldId id="277" r:id="rId9"/>
    <p:sldId id="275" r:id="rId10"/>
    <p:sldId id="276" r:id="rId11"/>
    <p:sldId id="278" r:id="rId12"/>
    <p:sldId id="279" r:id="rId13"/>
    <p:sldId id="280" r:id="rId14"/>
    <p:sldId id="281" r:id="rId15"/>
    <p:sldId id="282" r:id="rId16"/>
    <p:sldId id="283" r:id="rId17"/>
    <p:sldId id="284" r:id="rId18"/>
    <p:sldId id="359" r:id="rId19"/>
    <p:sldId id="285" r:id="rId20"/>
    <p:sldId id="286" r:id="rId21"/>
    <p:sldId id="287" r:id="rId22"/>
    <p:sldId id="288" r:id="rId23"/>
    <p:sldId id="289" r:id="rId24"/>
    <p:sldId id="290" r:id="rId25"/>
    <p:sldId id="291" r:id="rId26"/>
    <p:sldId id="292" r:id="rId27"/>
    <p:sldId id="293" r:id="rId28"/>
    <p:sldId id="29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16DA210-FB5B-4158-B5E0-FEB733F419B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Style moyen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9" d="100"/>
          <a:sy n="89" d="100"/>
        </p:scale>
        <p:origin x="66" y="4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D3D"/>
        </a:solidFill>
        <a:effectLst/>
      </p:bgPr>
    </p:bg>
    <p:spTree>
      <p:nvGrpSpPr>
        <p:cNvPr id="1" name=""/>
        <p:cNvGrpSpPr/>
        <p:nvPr/>
      </p:nvGrpSpPr>
      <p:grpSpPr>
        <a:xfrm>
          <a:off x="0" y="0"/>
          <a:ext cx="0" cy="0"/>
          <a:chOff x="0" y="0"/>
          <a:chExt cx="0" cy="0"/>
        </a:xfrm>
      </p:grpSpPr>
      <p:sp>
        <p:nvSpPr>
          <p:cNvPr id="2" name="Rectangle 1"/>
          <p:cNvSpPr/>
          <p:nvPr/>
        </p:nvSpPr>
        <p:spPr>
          <a:xfrm>
            <a:off x="8732520" y="0"/>
            <a:ext cx="3474720" cy="6858000"/>
          </a:xfrm>
          <a:prstGeom prst="rect">
            <a:avLst/>
          </a:prstGeom>
          <a:solidFill>
            <a:srgbClr val="237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601200" y="0"/>
            <a:ext cx="2587752" cy="6858000"/>
          </a:xfrm>
          <a:prstGeom prst="rect">
            <a:avLst/>
          </a:prstGeom>
          <a:solidFill>
            <a:srgbClr val="1F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731520"/>
            <a:ext cx="5943600" cy="365760"/>
          </a:xfrm>
          <a:prstGeom prst="rect">
            <a:avLst/>
          </a:prstGeom>
          <a:noFill/>
        </p:spPr>
        <p:txBody>
          <a:bodyPr wrap="square" lIns="36576" tIns="18288" rIns="36576" bIns="18288">
            <a:spAutoFit/>
          </a:bodyPr>
          <a:lstStyle/>
          <a:p>
            <a:pPr>
              <a:defRPr sz="1500" b="1">
                <a:solidFill>
                  <a:srgbClr val="C9A646"/>
                </a:solidFill>
                <a:latin typeface="Aptos"/>
              </a:defRPr>
            </a:pPr>
            <a:r>
              <a:t>RATTRAPAGE</a:t>
            </a:r>
          </a:p>
        </p:txBody>
      </p:sp>
      <p:sp>
        <p:nvSpPr>
          <p:cNvPr id="5" name="TextBox 4"/>
          <p:cNvSpPr txBox="1"/>
          <p:nvPr/>
        </p:nvSpPr>
        <p:spPr>
          <a:xfrm>
            <a:off x="822960" y="1417320"/>
            <a:ext cx="6583680" cy="1051560"/>
          </a:xfrm>
          <a:prstGeom prst="rect">
            <a:avLst/>
          </a:prstGeom>
          <a:noFill/>
        </p:spPr>
        <p:txBody>
          <a:bodyPr wrap="square" lIns="36576" tIns="18288" rIns="36576" bIns="18288">
            <a:spAutoFit/>
          </a:bodyPr>
          <a:lstStyle/>
          <a:p>
            <a:pPr>
              <a:defRPr sz="4600" b="1">
                <a:solidFill>
                  <a:srgbClr val="FFFFFF"/>
                </a:solidFill>
                <a:latin typeface="Aptos"/>
              </a:defRPr>
            </a:pPr>
            <a:r>
              <a:t>UE 04</a:t>
            </a:r>
          </a:p>
        </p:txBody>
      </p:sp>
      <p:sp>
        <p:nvSpPr>
          <p:cNvPr id="6" name="TextBox 5"/>
          <p:cNvSpPr txBox="1"/>
          <p:nvPr/>
        </p:nvSpPr>
        <p:spPr>
          <a:xfrm>
            <a:off x="868680" y="2606040"/>
            <a:ext cx="6949440" cy="685800"/>
          </a:xfrm>
          <a:prstGeom prst="rect">
            <a:avLst/>
          </a:prstGeom>
          <a:noFill/>
        </p:spPr>
        <p:txBody>
          <a:bodyPr wrap="square" lIns="36576" tIns="18288" rIns="36576" bIns="18288">
            <a:spAutoFit/>
          </a:bodyPr>
          <a:lstStyle/>
          <a:p>
            <a:pPr>
              <a:defRPr sz="2900" b="0">
                <a:solidFill>
                  <a:srgbClr val="FFFFFF"/>
                </a:solidFill>
                <a:latin typeface="Aptos"/>
              </a:defRPr>
            </a:pPr>
            <a:r>
              <a:t>Produit et Storytelling</a:t>
            </a:r>
          </a:p>
        </p:txBody>
      </p:sp>
      <p:sp>
        <p:nvSpPr>
          <p:cNvPr id="7" name="TextBox 6"/>
          <p:cNvSpPr txBox="1"/>
          <p:nvPr/>
        </p:nvSpPr>
        <p:spPr>
          <a:xfrm>
            <a:off x="868680" y="3703320"/>
            <a:ext cx="6949440" cy="731520"/>
          </a:xfrm>
          <a:prstGeom prst="rect">
            <a:avLst/>
          </a:prstGeom>
          <a:noFill/>
        </p:spPr>
        <p:txBody>
          <a:bodyPr wrap="square" lIns="36576" tIns="18288" rIns="36576" bIns="18288">
            <a:spAutoFit/>
          </a:bodyPr>
          <a:lstStyle/>
          <a:p>
            <a:pPr>
              <a:defRPr sz="1900" b="0">
                <a:solidFill>
                  <a:srgbClr val="DCE5EB"/>
                </a:solidFill>
                <a:latin typeface="Aptos"/>
              </a:defRPr>
            </a:pPr>
            <a:r>
              <a:t>Audit RGPD, sécurité et plan de remédiation agile</a:t>
            </a:r>
          </a:p>
        </p:txBody>
      </p:sp>
      <p:sp>
        <p:nvSpPr>
          <p:cNvPr id="8" name="TextBox 7"/>
          <p:cNvSpPr txBox="1"/>
          <p:nvPr/>
        </p:nvSpPr>
        <p:spPr>
          <a:xfrm>
            <a:off x="868680" y="5212080"/>
            <a:ext cx="2743200" cy="320040"/>
          </a:xfrm>
          <a:prstGeom prst="rect">
            <a:avLst/>
          </a:prstGeom>
          <a:noFill/>
        </p:spPr>
        <p:txBody>
          <a:bodyPr wrap="square" lIns="36576" tIns="18288" rIns="36576" bIns="18288">
            <a:spAutoFit/>
          </a:bodyPr>
          <a:lstStyle/>
          <a:p>
            <a:pPr>
              <a:defRPr sz="1500" b="1">
                <a:solidFill>
                  <a:srgbClr val="C9A646"/>
                </a:solidFill>
                <a:latin typeface="Aptos"/>
              </a:defRPr>
            </a:pPr>
            <a:r>
              <a:t>Promotion 2026</a:t>
            </a:r>
          </a:p>
        </p:txBody>
      </p:sp>
      <p:sp>
        <p:nvSpPr>
          <p:cNvPr id="9" name="TextBox 8"/>
          <p:cNvSpPr txBox="1"/>
          <p:nvPr/>
        </p:nvSpPr>
        <p:spPr>
          <a:xfrm>
            <a:off x="868680" y="5650992"/>
            <a:ext cx="4114800" cy="320040"/>
          </a:xfrm>
          <a:prstGeom prst="rect">
            <a:avLst/>
          </a:prstGeom>
          <a:noFill/>
        </p:spPr>
        <p:txBody>
          <a:bodyPr wrap="square" lIns="36576" tIns="18288" rIns="36576" bIns="18288">
            <a:spAutoFit/>
          </a:bodyPr>
          <a:lstStyle/>
          <a:p>
            <a:pPr>
              <a:defRPr sz="1300" b="0">
                <a:solidFill>
                  <a:srgbClr val="FFFFFF"/>
                </a:solidFill>
                <a:latin typeface="Aptos"/>
              </a:defRPr>
            </a:pPr>
            <a:r>
              <a:t>Auteur : Younes Benaggoun</a:t>
            </a:r>
          </a:p>
        </p:txBody>
      </p:sp>
      <p:sp>
        <p:nvSpPr>
          <p:cNvPr id="10" name="TextBox 9"/>
          <p:cNvSpPr txBox="1"/>
          <p:nvPr/>
        </p:nvSpPr>
        <p:spPr>
          <a:xfrm>
            <a:off x="9738360" y="2926080"/>
            <a:ext cx="2011680" cy="502920"/>
          </a:xfrm>
          <a:prstGeom prst="rect">
            <a:avLst/>
          </a:prstGeom>
          <a:noFill/>
        </p:spPr>
        <p:txBody>
          <a:bodyPr wrap="square" lIns="36576" tIns="18288" rIns="36576" bIns="18288">
            <a:spAutoFit/>
          </a:bodyPr>
          <a:lstStyle/>
          <a:p>
            <a:pPr algn="ctr">
              <a:defRPr sz="1800" b="1">
                <a:solidFill>
                  <a:srgbClr val="FFFFFF"/>
                </a:solidFill>
                <a:latin typeface="Aptos"/>
              </a:defRPr>
            </a:pPr>
            <a:r>
              <a:t>WELLWORK</a:t>
            </a:r>
          </a:p>
        </p:txBody>
      </p:sp>
      <p:sp>
        <p:nvSpPr>
          <p:cNvPr id="11" name="Rectangle 2">
            <a:extLst>
              <a:ext uri="{FF2B5EF4-FFF2-40B4-BE49-F238E27FC236}">
                <a16:creationId xmlns:a16="http://schemas.microsoft.com/office/drawing/2014/main" id="{6142643E-F813-A64C-530F-F29311B23CCC}"/>
              </a:ext>
            </a:extLst>
          </p:cNvPr>
          <p:cNvSpPr>
            <a:spLocks noChangeArrowheads="1"/>
          </p:cNvSpPr>
          <p:nvPr/>
        </p:nvSpPr>
        <p:spPr bwMode="auto">
          <a:xfrm>
            <a:off x="6730365" y="38862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pic>
        <p:nvPicPr>
          <p:cNvPr id="1025" name="Picture 21">
            <a:extLst>
              <a:ext uri="{FF2B5EF4-FFF2-40B4-BE49-F238E27FC236}">
                <a16:creationId xmlns:a16="http://schemas.microsoft.com/office/drawing/2014/main" id="{7DF58ACC-4411-8698-8955-334F8256B5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8522" y="859939"/>
            <a:ext cx="5019675" cy="182880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3">
            <a:extLst>
              <a:ext uri="{FF2B5EF4-FFF2-40B4-BE49-F238E27FC236}">
                <a16:creationId xmlns:a16="http://schemas.microsoft.com/office/drawing/2014/main" id="{0EC2E17E-3081-B934-7097-FD6AB49D9AD1}"/>
              </a:ext>
            </a:extLst>
          </p:cNvPr>
          <p:cNvSpPr>
            <a:spLocks noChangeArrowheads="1"/>
          </p:cNvSpPr>
          <p:nvPr/>
        </p:nvSpPr>
        <p:spPr bwMode="auto">
          <a:xfrm>
            <a:off x="6730365" y="278892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C911C-D681-56ED-418C-75082106D30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29A65C9-1F28-4AAB-B819-DFE4A0EE78C1}"/>
              </a:ext>
            </a:extLst>
          </p:cNvPr>
          <p:cNvSpPr/>
          <p:nvPr/>
        </p:nvSpPr>
        <p:spPr>
          <a:xfrm>
            <a:off x="8732520" y="0"/>
            <a:ext cx="3474720" cy="6858000"/>
          </a:xfrm>
          <a:prstGeom prst="rect">
            <a:avLst/>
          </a:prstGeom>
          <a:solidFill>
            <a:srgbClr val="237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4B720DA4-15FF-A2FB-AE4E-AE39F49C60FC}"/>
              </a:ext>
            </a:extLst>
          </p:cNvPr>
          <p:cNvSpPr/>
          <p:nvPr/>
        </p:nvSpPr>
        <p:spPr>
          <a:xfrm>
            <a:off x="9601200" y="0"/>
            <a:ext cx="2587752" cy="6858000"/>
          </a:xfrm>
          <a:prstGeom prst="rect">
            <a:avLst/>
          </a:prstGeom>
          <a:solidFill>
            <a:srgbClr val="1F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3616391-0E85-5933-149F-B2DD863C6122}"/>
              </a:ext>
            </a:extLst>
          </p:cNvPr>
          <p:cNvSpPr txBox="1"/>
          <p:nvPr/>
        </p:nvSpPr>
        <p:spPr>
          <a:xfrm>
            <a:off x="868680" y="2606040"/>
            <a:ext cx="6949440" cy="685800"/>
          </a:xfrm>
          <a:prstGeom prst="rect">
            <a:avLst/>
          </a:prstGeom>
          <a:noFill/>
        </p:spPr>
        <p:txBody>
          <a:bodyPr wrap="square" lIns="36576" tIns="18288" rIns="36576" bIns="18288">
            <a:spAutoFit/>
          </a:bodyPr>
          <a:lstStyle/>
          <a:p>
            <a:pPr>
              <a:defRPr sz="2900" b="0">
                <a:solidFill>
                  <a:srgbClr val="FFFFFF"/>
                </a:solidFill>
                <a:latin typeface="Aptos"/>
              </a:defRPr>
            </a:pPr>
            <a:r>
              <a:t>Produit et Storytelling</a:t>
            </a:r>
          </a:p>
        </p:txBody>
      </p:sp>
      <p:sp>
        <p:nvSpPr>
          <p:cNvPr id="7" name="TextBox 6">
            <a:extLst>
              <a:ext uri="{FF2B5EF4-FFF2-40B4-BE49-F238E27FC236}">
                <a16:creationId xmlns:a16="http://schemas.microsoft.com/office/drawing/2014/main" id="{3A2ECF7F-B392-DB50-2B7B-1C23669201E8}"/>
              </a:ext>
            </a:extLst>
          </p:cNvPr>
          <p:cNvSpPr txBox="1"/>
          <p:nvPr/>
        </p:nvSpPr>
        <p:spPr>
          <a:xfrm>
            <a:off x="728831" y="2654743"/>
            <a:ext cx="6949440" cy="821763"/>
          </a:xfrm>
          <a:prstGeom prst="rect">
            <a:avLst/>
          </a:prstGeom>
          <a:noFill/>
        </p:spPr>
        <p:txBody>
          <a:bodyPr wrap="square" lIns="36576" tIns="18288" rIns="36576" bIns="18288">
            <a:spAutoFit/>
          </a:bodyPr>
          <a:lstStyle/>
          <a:p>
            <a:pPr>
              <a:defRPr sz="1900" b="0">
                <a:solidFill>
                  <a:srgbClr val="DCE5EB"/>
                </a:solidFill>
                <a:latin typeface="Aptos"/>
              </a:defRPr>
            </a:pPr>
            <a:r>
              <a:rPr lang="fr-FR" altLang="fr-FR" sz="3200" dirty="0">
                <a:solidFill>
                  <a:srgbClr val="1F3864"/>
                </a:solidFill>
                <a:latin typeface="Calibri" panose="020F0502020204030204" pitchFamily="34" charset="0"/>
                <a:ea typeface="Times New Roman" panose="02020603050405020304" pitchFamily="18" charset="0"/>
                <a:cs typeface="Calibri" panose="020F0502020204030204" pitchFamily="34" charset="0"/>
              </a:rPr>
              <a:t>A. Cartographie et conformité RGPD</a:t>
            </a:r>
            <a:endParaRPr lang="fr-FR" altLang="fr-FR" sz="3200" dirty="0">
              <a:solidFill>
                <a:srgbClr val="1F3864"/>
              </a:solidFill>
              <a:latin typeface="Calibri" panose="020F0502020204030204" pitchFamily="34" charset="0"/>
              <a:ea typeface="Times New Roman" panose="02020603050405020304" pitchFamily="18" charset="0"/>
              <a:cs typeface="Times New Roman" panose="02020603050405020304" pitchFamily="18" charset="0"/>
            </a:endParaRPr>
          </a:p>
          <a:p>
            <a:pPr>
              <a:defRPr sz="1900" b="0">
                <a:solidFill>
                  <a:srgbClr val="DCE5EB"/>
                </a:solidFill>
                <a:latin typeface="Aptos"/>
              </a:defRPr>
            </a:pPr>
            <a:endParaRPr dirty="0"/>
          </a:p>
        </p:txBody>
      </p:sp>
    </p:spTree>
    <p:extLst>
      <p:ext uri="{BB962C8B-B14F-4D97-AF65-F5344CB8AC3E}">
        <p14:creationId xmlns:p14="http://schemas.microsoft.com/office/powerpoint/2010/main" val="1136449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D5F97396-3C24-BBF3-90A1-0F9D0E2277C9}"/>
              </a:ext>
            </a:extLst>
          </p:cNvPr>
          <p:cNvGraphicFramePr>
            <a:graphicFrameLocks noGrp="1"/>
          </p:cNvGraphicFramePr>
          <p:nvPr>
            <p:extLst>
              <p:ext uri="{D42A27DB-BD31-4B8C-83A1-F6EECF244321}">
                <p14:modId xmlns:p14="http://schemas.microsoft.com/office/powerpoint/2010/main" val="2038575588"/>
              </p:ext>
            </p:extLst>
          </p:nvPr>
        </p:nvGraphicFramePr>
        <p:xfrm>
          <a:off x="387275" y="570156"/>
          <a:ext cx="11392350" cy="6002765"/>
        </p:xfrm>
        <a:graphic>
          <a:graphicData uri="http://schemas.openxmlformats.org/drawingml/2006/table">
            <a:tbl>
              <a:tblPr firstRow="1" firstCol="1" bandRow="1">
                <a:tableStyleId>{616DA210-FB5B-4158-B5E0-FEB733F419BA}</a:tableStyleId>
              </a:tblPr>
              <a:tblGrid>
                <a:gridCol w="2023776">
                  <a:extLst>
                    <a:ext uri="{9D8B030D-6E8A-4147-A177-3AD203B41FA5}">
                      <a16:colId xmlns:a16="http://schemas.microsoft.com/office/drawing/2014/main" val="3198351332"/>
                    </a:ext>
                  </a:extLst>
                </a:gridCol>
                <a:gridCol w="2023776">
                  <a:extLst>
                    <a:ext uri="{9D8B030D-6E8A-4147-A177-3AD203B41FA5}">
                      <a16:colId xmlns:a16="http://schemas.microsoft.com/office/drawing/2014/main" val="3649963806"/>
                    </a:ext>
                  </a:extLst>
                </a:gridCol>
                <a:gridCol w="2023776">
                  <a:extLst>
                    <a:ext uri="{9D8B030D-6E8A-4147-A177-3AD203B41FA5}">
                      <a16:colId xmlns:a16="http://schemas.microsoft.com/office/drawing/2014/main" val="2831515369"/>
                    </a:ext>
                  </a:extLst>
                </a:gridCol>
                <a:gridCol w="1118458">
                  <a:extLst>
                    <a:ext uri="{9D8B030D-6E8A-4147-A177-3AD203B41FA5}">
                      <a16:colId xmlns:a16="http://schemas.microsoft.com/office/drawing/2014/main" val="2607266559"/>
                    </a:ext>
                  </a:extLst>
                </a:gridCol>
                <a:gridCol w="2178788">
                  <a:extLst>
                    <a:ext uri="{9D8B030D-6E8A-4147-A177-3AD203B41FA5}">
                      <a16:colId xmlns:a16="http://schemas.microsoft.com/office/drawing/2014/main" val="2563522646"/>
                    </a:ext>
                  </a:extLst>
                </a:gridCol>
                <a:gridCol w="2023776">
                  <a:extLst>
                    <a:ext uri="{9D8B030D-6E8A-4147-A177-3AD203B41FA5}">
                      <a16:colId xmlns:a16="http://schemas.microsoft.com/office/drawing/2014/main" val="182169755"/>
                    </a:ext>
                  </a:extLst>
                </a:gridCol>
              </a:tblGrid>
              <a:tr h="540480">
                <a:tc>
                  <a:txBody>
                    <a:bodyPr/>
                    <a:lstStyle/>
                    <a:p>
                      <a:pPr>
                        <a:lnSpc>
                          <a:spcPct val="107000"/>
                        </a:lnSpc>
                        <a:spcAft>
                          <a:spcPts val="800"/>
                        </a:spcAft>
                        <a:buNone/>
                      </a:pPr>
                      <a:r>
                        <a:rPr lang="fr-FR" sz="1400" kern="100" dirty="0">
                          <a:effectLst/>
                        </a:rPr>
                        <a:t>Traitement</a:t>
                      </a: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Finalité</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Données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Personnes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Destinataires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Durée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001328933"/>
                  </a:ext>
                </a:extLst>
              </a:tr>
              <a:tr h="983888">
                <a:tc>
                  <a:txBody>
                    <a:bodyPr/>
                    <a:lstStyle/>
                    <a:p>
                      <a:pPr>
                        <a:lnSpc>
                          <a:spcPct val="107000"/>
                        </a:lnSpc>
                        <a:spcAft>
                          <a:spcPts val="800"/>
                        </a:spcAft>
                        <a:buNone/>
                      </a:pPr>
                      <a:r>
                        <a:rPr lang="fr-FR" sz="1400" kern="100">
                          <a:effectLst/>
                        </a:rPr>
                        <a:t>Compte &amp; authentification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Créer, sécuriser et exploiter le compte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Email, nom, entreprise, date naissance, hash, session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Salariés, RH, coachs, admin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WellWork, prestataires techniques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Non définie précisément ; retentionDays=null</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8593125"/>
                  </a:ext>
                </a:extLst>
              </a:tr>
              <a:tr h="755511">
                <a:tc>
                  <a:txBody>
                    <a:bodyPr/>
                    <a:lstStyle/>
                    <a:p>
                      <a:pPr>
                        <a:lnSpc>
                          <a:spcPct val="107000"/>
                        </a:lnSpc>
                        <a:spcAft>
                          <a:spcPts val="800"/>
                        </a:spcAft>
                        <a:buNone/>
                      </a:pPr>
                      <a:r>
                        <a:rPr lang="fr-FR" sz="1400" kern="100">
                          <a:effectLst/>
                        </a:rPr>
                        <a:t>Questionnaire santé</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Bien-être, suivi et personnalisation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Stress, poids, taille, sommeil, antécédents, traitements, tabac</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Salariés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Coach / WellWork ; export possible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Non définie ; historique conservé</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608583426"/>
                  </a:ext>
                </a:extLst>
              </a:tr>
              <a:tr h="486455">
                <a:tc>
                  <a:txBody>
                    <a:bodyPr/>
                    <a:lstStyle/>
                    <a:p>
                      <a:pPr>
                        <a:lnSpc>
                          <a:spcPct val="107000"/>
                        </a:lnSpc>
                        <a:spcAft>
                          <a:spcPts val="800"/>
                        </a:spcAft>
                        <a:buNone/>
                      </a:pPr>
                      <a:r>
                        <a:rPr lang="fr-FR" sz="1400" kern="100">
                          <a:effectLst/>
                        </a:rPr>
                        <a:t>Messagerie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Échange coach/salarié</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Identifiants, contenu des messages, dates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Salariés, coachs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Destinataire du message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Non définie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918697652"/>
                  </a:ext>
                </a:extLst>
              </a:tr>
              <a:tr h="741521">
                <a:tc>
                  <a:txBody>
                    <a:bodyPr/>
                    <a:lstStyle/>
                    <a:p>
                      <a:pPr>
                        <a:lnSpc>
                          <a:spcPct val="107000"/>
                        </a:lnSpc>
                        <a:spcAft>
                          <a:spcPts val="800"/>
                        </a:spcAft>
                        <a:buNone/>
                      </a:pPr>
                      <a:r>
                        <a:rPr lang="fr-FR" sz="1400" kern="100">
                          <a:effectLst/>
                        </a:rPr>
                        <a:t>Annuaire RH</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Recherche d’utilisateurs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Identité, email, entreprise, profil</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Salariés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RH / utilisateurs authentifiés selon route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Non définie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683488823"/>
                  </a:ext>
                </a:extLst>
              </a:tr>
              <a:tr h="755511">
                <a:tc>
                  <a:txBody>
                    <a:bodyPr/>
                    <a:lstStyle/>
                    <a:p>
                      <a:pPr>
                        <a:lnSpc>
                          <a:spcPct val="107000"/>
                        </a:lnSpc>
                        <a:spcAft>
                          <a:spcPts val="800"/>
                        </a:spcAft>
                        <a:buNone/>
                      </a:pPr>
                      <a:r>
                        <a:rPr lang="fr-FR" sz="1400" kern="100">
                          <a:effectLst/>
                        </a:rPr>
                        <a:t>Export assureur</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Transmission au partenaire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Le code exporte l’intégralité du profil + questionnaires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Salariés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Assureur partenaire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Non définie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407036335"/>
                  </a:ext>
                </a:extLst>
              </a:tr>
              <a:tr h="755511">
                <a:tc>
                  <a:txBody>
                    <a:bodyPr/>
                    <a:lstStyle/>
                    <a:p>
                      <a:pPr>
                        <a:lnSpc>
                          <a:spcPct val="107000"/>
                        </a:lnSpc>
                        <a:spcAft>
                          <a:spcPts val="800"/>
                        </a:spcAft>
                        <a:buNone/>
                      </a:pPr>
                      <a:r>
                        <a:rPr lang="fr-FR" sz="1400" kern="100">
                          <a:effectLst/>
                        </a:rPr>
                        <a:t>Marketing</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Prospection / communication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Email et indicateur marketing</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Utilisateurs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WellWork / partenaires selon usage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Non définie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81371418"/>
                  </a:ext>
                </a:extLst>
              </a:tr>
              <a:tr h="983888">
                <a:tc>
                  <a:txBody>
                    <a:bodyPr/>
                    <a:lstStyle/>
                    <a:p>
                      <a:pPr>
                        <a:lnSpc>
                          <a:spcPct val="107000"/>
                        </a:lnSpc>
                        <a:spcAft>
                          <a:spcPts val="800"/>
                        </a:spcAft>
                        <a:buNone/>
                      </a:pPr>
                      <a:r>
                        <a:rPr lang="fr-FR" sz="1400" kern="100">
                          <a:effectLst/>
                        </a:rPr>
                        <a:t>Logs applicatifs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Support et diagnostic</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Email, événements, identifiants et actuellement mots de passe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Utilisateurs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a:effectLst/>
                        </a:rPr>
                        <a:t>Équipe technique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400" kern="100" dirty="0">
                          <a:effectLst/>
                        </a:rPr>
                        <a:t>Non définie</a:t>
                      </a: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629738192"/>
                  </a:ext>
                </a:extLst>
              </a:tr>
            </a:tbl>
          </a:graphicData>
        </a:graphic>
      </p:graphicFrame>
      <p:sp>
        <p:nvSpPr>
          <p:cNvPr id="3" name="Rectangle 1">
            <a:extLst>
              <a:ext uri="{FF2B5EF4-FFF2-40B4-BE49-F238E27FC236}">
                <a16:creationId xmlns:a16="http://schemas.microsoft.com/office/drawing/2014/main" id="{93DB19CE-7203-1C0B-CCDD-8D8AD073A916}"/>
              </a:ext>
            </a:extLst>
          </p:cNvPr>
          <p:cNvSpPr>
            <a:spLocks noChangeArrowheads="1"/>
          </p:cNvSpPr>
          <p:nvPr/>
        </p:nvSpPr>
        <p:spPr bwMode="auto">
          <a:xfrm>
            <a:off x="1049899" y="153595"/>
            <a:ext cx="2940100" cy="677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rgbClr val="8EAADB"/>
                </a:solidFill>
                <a:effectLst/>
                <a:latin typeface="Calibri" panose="020F0502020204030204" pitchFamily="34" charset="0"/>
                <a:ea typeface="Times New Roman" panose="02020603050405020304" pitchFamily="18" charset="0"/>
                <a:cs typeface="Calibri" panose="020F0502020204030204" pitchFamily="34" charset="0"/>
              </a:rPr>
              <a:t>A1. Cartographie des traitements</a:t>
            </a:r>
            <a:endParaRPr kumimoji="0" lang="fr-FR" altLang="fr-FR" sz="1600" b="0" i="0" u="none" strike="noStrike" cap="none" normalizeH="0" baseline="0" dirty="0">
              <a:ln>
                <a:noFill/>
              </a:ln>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84786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BD401F7A-8B34-44B2-11A3-90080B28B4CF}"/>
              </a:ext>
            </a:extLst>
          </p:cNvPr>
          <p:cNvGraphicFramePr>
            <a:graphicFrameLocks noGrp="1"/>
          </p:cNvGraphicFramePr>
          <p:nvPr>
            <p:extLst>
              <p:ext uri="{D42A27DB-BD31-4B8C-83A1-F6EECF244321}">
                <p14:modId xmlns:p14="http://schemas.microsoft.com/office/powerpoint/2010/main" val="409269734"/>
              </p:ext>
            </p:extLst>
          </p:nvPr>
        </p:nvGraphicFramePr>
        <p:xfrm>
          <a:off x="802650" y="999524"/>
          <a:ext cx="10586700" cy="5547233"/>
        </p:xfrm>
        <a:graphic>
          <a:graphicData uri="http://schemas.openxmlformats.org/drawingml/2006/table">
            <a:tbl>
              <a:tblPr firstRow="1" firstCol="1" bandRow="1">
                <a:tableStyleId>{616DA210-FB5B-4158-B5E0-FEB733F419BA}</a:tableStyleId>
              </a:tblPr>
              <a:tblGrid>
                <a:gridCol w="2077402">
                  <a:extLst>
                    <a:ext uri="{9D8B030D-6E8A-4147-A177-3AD203B41FA5}">
                      <a16:colId xmlns:a16="http://schemas.microsoft.com/office/drawing/2014/main" val="4248017298"/>
                    </a:ext>
                  </a:extLst>
                </a:gridCol>
                <a:gridCol w="4120179">
                  <a:extLst>
                    <a:ext uri="{9D8B030D-6E8A-4147-A177-3AD203B41FA5}">
                      <a16:colId xmlns:a16="http://schemas.microsoft.com/office/drawing/2014/main" val="591302449"/>
                    </a:ext>
                  </a:extLst>
                </a:gridCol>
                <a:gridCol w="4389119">
                  <a:extLst>
                    <a:ext uri="{9D8B030D-6E8A-4147-A177-3AD203B41FA5}">
                      <a16:colId xmlns:a16="http://schemas.microsoft.com/office/drawing/2014/main" val="397796357"/>
                    </a:ext>
                  </a:extLst>
                </a:gridCol>
              </a:tblGrid>
              <a:tr h="801393">
                <a:tc>
                  <a:txBody>
                    <a:bodyPr/>
                    <a:lstStyle/>
                    <a:p>
                      <a:pPr algn="ctr">
                        <a:lnSpc>
                          <a:spcPct val="107000"/>
                        </a:lnSpc>
                        <a:spcAft>
                          <a:spcPts val="800"/>
                        </a:spcAft>
                        <a:buNone/>
                      </a:pPr>
                      <a:r>
                        <a:rPr lang="fr-FR" sz="1600" kern="100" dirty="0">
                          <a:effectLst/>
                        </a:rPr>
                        <a:t>Acteur</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600" kern="100" dirty="0">
                          <a:effectLst/>
                        </a:rPr>
                        <a:t>Qualification proposée</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600" kern="100" dirty="0">
                          <a:effectLst/>
                        </a:rPr>
                        <a:t>Justification</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669548410"/>
                  </a:ext>
                </a:extLst>
              </a:tr>
              <a:tr h="1271809">
                <a:tc>
                  <a:txBody>
                    <a:bodyPr/>
                    <a:lstStyle/>
                    <a:p>
                      <a:pPr algn="ctr">
                        <a:lnSpc>
                          <a:spcPct val="107000"/>
                        </a:lnSpc>
                        <a:spcAft>
                          <a:spcPts val="800"/>
                        </a:spcAft>
                        <a:buNone/>
                      </a:pPr>
                      <a:r>
                        <a:rPr lang="fr-FR" sz="1600" kern="100">
                          <a:effectLst/>
                        </a:rPr>
                        <a:t>Entreprise cliente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600" kern="100" dirty="0">
                          <a:effectLst/>
                        </a:rPr>
                        <a:t>Responsable de traitement pour ses propres finalités RH</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600" kern="100">
                          <a:effectLst/>
                        </a:rPr>
                        <a:t>Elle détermine pourquoi et comment certaines données de ses salariés sont utilisées dans son périmètre.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822321633"/>
                  </a:ext>
                </a:extLst>
              </a:tr>
              <a:tr h="1400829">
                <a:tc>
                  <a:txBody>
                    <a:bodyPr/>
                    <a:lstStyle/>
                    <a:p>
                      <a:pPr algn="ctr">
                        <a:lnSpc>
                          <a:spcPct val="107000"/>
                        </a:lnSpc>
                        <a:spcAft>
                          <a:spcPts val="800"/>
                        </a:spcAft>
                        <a:buNone/>
                      </a:pPr>
                      <a:r>
                        <a:rPr lang="fr-FR" sz="1600" kern="100">
                          <a:effectLst/>
                        </a:rPr>
                        <a:t>WellWork</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600" kern="100">
                          <a:effectLst/>
                        </a:rPr>
                        <a:t>Sous-traitant lorsqu’elle agit uniquement sur instruction de l’entreprise ; responsable pour ses propres finalités</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600" kern="100">
                          <a:effectLst/>
                        </a:rPr>
                        <a:t>La qualification dépend du contrat et des décisions réelles. La plateforme ne peut pas être déclarée automatiquement sous-traitante pour tous les traitements.</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001498793"/>
                  </a:ext>
                </a:extLst>
              </a:tr>
              <a:tr h="1296326">
                <a:tc>
                  <a:txBody>
                    <a:bodyPr/>
                    <a:lstStyle/>
                    <a:p>
                      <a:pPr algn="ctr">
                        <a:lnSpc>
                          <a:spcPct val="107000"/>
                        </a:lnSpc>
                        <a:spcAft>
                          <a:spcPts val="800"/>
                        </a:spcAft>
                        <a:buNone/>
                      </a:pPr>
                      <a:r>
                        <a:rPr lang="fr-FR" sz="1600" kern="100">
                          <a:effectLst/>
                        </a:rPr>
                        <a:t>Assureur</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600" kern="100">
                          <a:effectLst/>
                        </a:rPr>
                        <a:t>Responsable distinct, ou responsables conjoints si les finalités sont déterminées ensemble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600" kern="100">
                          <a:effectLst/>
                        </a:rPr>
                        <a:t>À vérifier dans les contrats, instructions, finalités et modalités de l’export.</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284759028"/>
                  </a:ext>
                </a:extLst>
              </a:tr>
              <a:tr h="776876">
                <a:tc>
                  <a:txBody>
                    <a:bodyPr/>
                    <a:lstStyle/>
                    <a:p>
                      <a:pPr algn="ctr">
                        <a:lnSpc>
                          <a:spcPct val="107000"/>
                        </a:lnSpc>
                        <a:spcAft>
                          <a:spcPts val="800"/>
                        </a:spcAft>
                        <a:buNone/>
                      </a:pPr>
                      <a:r>
                        <a:rPr lang="fr-FR" sz="1600" kern="100">
                          <a:effectLst/>
                        </a:rPr>
                        <a:t>Coach</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600" kern="100">
                          <a:effectLst/>
                        </a:rPr>
                        <a:t>Utilisateur autorisé / destinataire selon contrat</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600" kern="100" dirty="0">
                          <a:effectLst/>
                        </a:rPr>
                        <a:t>Accès limité au strict nécessaire, avec contrôle d’habilitation.</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198052399"/>
                  </a:ext>
                </a:extLst>
              </a:tr>
            </a:tbl>
          </a:graphicData>
        </a:graphic>
      </p:graphicFrame>
      <p:sp>
        <p:nvSpPr>
          <p:cNvPr id="3" name="Rectangle 1">
            <a:extLst>
              <a:ext uri="{FF2B5EF4-FFF2-40B4-BE49-F238E27FC236}">
                <a16:creationId xmlns:a16="http://schemas.microsoft.com/office/drawing/2014/main" id="{49F7649A-F2BD-B5D2-72E3-82A2F2F44ABB}"/>
              </a:ext>
            </a:extLst>
          </p:cNvPr>
          <p:cNvSpPr>
            <a:spLocks noChangeArrowheads="1"/>
          </p:cNvSpPr>
          <p:nvPr/>
        </p:nvSpPr>
        <p:spPr bwMode="auto">
          <a:xfrm>
            <a:off x="1214438" y="28925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rgbClr val="8EAADB"/>
                </a:solidFill>
                <a:effectLst/>
                <a:latin typeface="Calibri" panose="020F0502020204030204" pitchFamily="34" charset="0"/>
                <a:ea typeface="Times New Roman" panose="02020603050405020304" pitchFamily="18" charset="0"/>
                <a:cs typeface="Calibri" panose="020F0502020204030204" pitchFamily="34" charset="0"/>
              </a:rPr>
              <a:t>A2. Acteurs et responsabilités</a:t>
            </a:r>
            <a:endParaRPr kumimoji="0" lang="fr-FR" altLang="fr-FR" sz="1600" b="0" i="0" u="none" strike="noStrike" cap="none" normalizeH="0" baseline="0" dirty="0">
              <a:ln>
                <a:noFill/>
              </a:ln>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07602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C3B32D8-73F6-2AEA-9E82-7BF086A80834}"/>
              </a:ext>
            </a:extLst>
          </p:cNvPr>
          <p:cNvSpPr txBox="1"/>
          <p:nvPr/>
        </p:nvSpPr>
        <p:spPr>
          <a:xfrm>
            <a:off x="344244" y="212485"/>
            <a:ext cx="11618260" cy="5795689"/>
          </a:xfrm>
          <a:prstGeom prst="rect">
            <a:avLst/>
          </a:prstGeom>
          <a:noFill/>
        </p:spPr>
        <p:txBody>
          <a:bodyPr wrap="square">
            <a:spAutoFit/>
          </a:bodyPr>
          <a:lstStyle/>
          <a:p>
            <a:pPr>
              <a:lnSpc>
                <a:spcPct val="107000"/>
              </a:lnSpc>
              <a:spcBef>
                <a:spcPts val="800"/>
              </a:spcBef>
              <a:spcAft>
                <a:spcPts val="400"/>
              </a:spcAft>
              <a:buNone/>
            </a:pPr>
            <a:r>
              <a:rPr lang="fr-FR" sz="3600" b="1" kern="100" dirty="0">
                <a:solidFill>
                  <a:srgbClr val="8EAADB"/>
                </a:solidFill>
                <a:effectLst/>
                <a:latin typeface="Calibri" panose="020F0502020204030204" pitchFamily="34" charset="0"/>
                <a:ea typeface="Times New Roman" panose="02020603050405020304" pitchFamily="18" charset="0"/>
                <a:cs typeface="Calibri" panose="020F0502020204030204" pitchFamily="34" charset="0"/>
              </a:rPr>
              <a:t>A3. Analyse d'impact AIPD </a:t>
            </a:r>
            <a:endParaRPr lang="fr-FR" sz="36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Calibri" panose="020F0502020204030204" pitchFamily="34" charset="0"/>
              </a:rPr>
              <a:t>Conclusion :</a:t>
            </a:r>
            <a:r>
              <a:rPr lang="fr-FR" sz="1800" kern="100" dirty="0">
                <a:effectLst/>
                <a:latin typeface="Calibri" panose="020F0502020204030204" pitchFamily="34" charset="0"/>
                <a:ea typeface="Calibri" panose="020F0502020204030204" pitchFamily="34" charset="0"/>
                <a:cs typeface="Calibri" panose="020F0502020204030204" pitchFamily="34" charset="0"/>
              </a:rPr>
              <a:t> l’AIPD est à considérer comme obligatoire pour la plateforme en production si le traitement constitue une évaluation systématique/étendue des salariés ou un traitement à grande échelle de catégories particulières de données. Le seul jeu de démonstration de 63 comptes ne permet pas, à lui seul, de prouver le critère « grande échelle » ; le contexte réel de la start-up doit être documenté.</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Calibri" panose="020F0502020204030204" pitchFamily="34" charset="0"/>
              </a:rPr>
              <a:t>Traitement analysé</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fr-FR" sz="1800" kern="100" dirty="0">
                <a:effectLst/>
                <a:latin typeface="Calibri" panose="020F0502020204030204" pitchFamily="34" charset="0"/>
                <a:ea typeface="Calibri" panose="020F0502020204030204" pitchFamily="34" charset="0"/>
                <a:cs typeface="Calibri" panose="020F0502020204030204" pitchFamily="34" charset="0"/>
              </a:rPr>
              <a:t>Questionnaires de santé, croisés avec le compte utilisateur et potentiellement consultables par des acteurs métier et exportés vers l’assureur.</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Calibri" panose="020F0502020204030204" pitchFamily="34" charset="0"/>
              </a:rPr>
              <a:t>Catégories :</a:t>
            </a:r>
            <a:r>
              <a:rPr lang="fr-FR" sz="1800" kern="100" dirty="0">
                <a:effectLst/>
                <a:latin typeface="Calibri" panose="020F0502020204030204" pitchFamily="34" charset="0"/>
                <a:ea typeface="Calibri" panose="020F0502020204030204" pitchFamily="34" charset="0"/>
                <a:cs typeface="Calibri" panose="020F0502020204030204" pitchFamily="34" charset="0"/>
              </a:rPr>
              <a:t> santé, habitudes de vie, identifiants, données professionnelles.</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Calibri" panose="020F0502020204030204" pitchFamily="34" charset="0"/>
              </a:rPr>
              <a:t>Risques principaux</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1800" kern="100" dirty="0">
                <a:effectLst/>
                <a:latin typeface="Calibri" panose="020F0502020204030204" pitchFamily="34" charset="0"/>
                <a:ea typeface="Calibri" panose="020F0502020204030204" pitchFamily="34" charset="0"/>
                <a:cs typeface="Calibri" panose="020F0502020204030204" pitchFamily="34" charset="0"/>
              </a:rPr>
              <a:t>Accès non autorisé aux données de santé.</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1800" kern="100" dirty="0">
                <a:effectLst/>
                <a:latin typeface="Calibri" panose="020F0502020204030204" pitchFamily="34" charset="0"/>
                <a:ea typeface="Calibri" panose="020F0502020204030204" pitchFamily="34" charset="0"/>
                <a:cs typeface="Calibri" panose="020F0502020204030204" pitchFamily="34" charset="0"/>
              </a:rPr>
              <a:t>Profilage ou interprétation des salariés.</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1800" kern="100" dirty="0">
                <a:effectLst/>
                <a:latin typeface="Calibri" panose="020F0502020204030204" pitchFamily="34" charset="0"/>
                <a:ea typeface="Calibri" panose="020F0502020204030204" pitchFamily="34" charset="0"/>
                <a:cs typeface="Calibri" panose="020F0502020204030204" pitchFamily="34" charset="0"/>
              </a:rPr>
              <a:t>Transmission excessive à un assureur.</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1800" kern="100" dirty="0" err="1">
                <a:effectLst/>
                <a:latin typeface="Calibri" panose="020F0502020204030204" pitchFamily="34" charset="0"/>
                <a:ea typeface="Calibri" panose="020F0502020204030204" pitchFamily="34" charset="0"/>
                <a:cs typeface="Calibri" panose="020F0502020204030204" pitchFamily="34" charset="0"/>
              </a:rPr>
              <a:t>Ré-identification</a:t>
            </a:r>
            <a:r>
              <a:rPr lang="fr-FR" sz="1800" kern="100" dirty="0">
                <a:effectLst/>
                <a:latin typeface="Calibri" panose="020F0502020204030204" pitchFamily="34" charset="0"/>
                <a:ea typeface="Calibri" panose="020F0502020204030204" pitchFamily="34" charset="0"/>
                <a:cs typeface="Calibri" panose="020F0502020204030204" pitchFamily="34" charset="0"/>
              </a:rPr>
              <a:t> et stigmatisation.</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1800" kern="100" dirty="0">
                <a:effectLst/>
                <a:latin typeface="Calibri" panose="020F0502020204030204" pitchFamily="34" charset="0"/>
                <a:ea typeface="Calibri" panose="020F0502020204030204" pitchFamily="34" charset="0"/>
                <a:cs typeface="Calibri" panose="020F0502020204030204" pitchFamily="34" charset="0"/>
              </a:rPr>
              <a:t>Conservation excessive.</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644338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E9563-65AC-A6FF-A247-3FD265B6699B}"/>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8C59CD18-E15B-848A-2E2E-B2C7A39999ED}"/>
              </a:ext>
            </a:extLst>
          </p:cNvPr>
          <p:cNvGraphicFramePr>
            <a:graphicFrameLocks noGrp="1"/>
          </p:cNvGraphicFramePr>
          <p:nvPr>
            <p:extLst>
              <p:ext uri="{D42A27DB-BD31-4B8C-83A1-F6EECF244321}">
                <p14:modId xmlns:p14="http://schemas.microsoft.com/office/powerpoint/2010/main" val="264080049"/>
              </p:ext>
            </p:extLst>
          </p:nvPr>
        </p:nvGraphicFramePr>
        <p:xfrm>
          <a:off x="430306" y="258178"/>
          <a:ext cx="11370835" cy="6468477"/>
        </p:xfrm>
        <a:graphic>
          <a:graphicData uri="http://schemas.openxmlformats.org/drawingml/2006/table">
            <a:tbl>
              <a:tblPr firstRow="1" firstCol="1" bandRow="1">
                <a:tableStyleId>{616DA210-FB5B-4158-B5E0-FEB733F419BA}</a:tableStyleId>
              </a:tblPr>
              <a:tblGrid>
                <a:gridCol w="2302136">
                  <a:extLst>
                    <a:ext uri="{9D8B030D-6E8A-4147-A177-3AD203B41FA5}">
                      <a16:colId xmlns:a16="http://schemas.microsoft.com/office/drawing/2014/main" val="2478744357"/>
                    </a:ext>
                  </a:extLst>
                </a:gridCol>
                <a:gridCol w="1527586">
                  <a:extLst>
                    <a:ext uri="{9D8B030D-6E8A-4147-A177-3AD203B41FA5}">
                      <a16:colId xmlns:a16="http://schemas.microsoft.com/office/drawing/2014/main" val="3136922212"/>
                    </a:ext>
                  </a:extLst>
                </a:gridCol>
                <a:gridCol w="1000461">
                  <a:extLst>
                    <a:ext uri="{9D8B030D-6E8A-4147-A177-3AD203B41FA5}">
                      <a16:colId xmlns:a16="http://schemas.microsoft.com/office/drawing/2014/main" val="4210010642"/>
                    </a:ext>
                  </a:extLst>
                </a:gridCol>
                <a:gridCol w="1463040">
                  <a:extLst>
                    <a:ext uri="{9D8B030D-6E8A-4147-A177-3AD203B41FA5}">
                      <a16:colId xmlns:a16="http://schemas.microsoft.com/office/drawing/2014/main" val="2989935852"/>
                    </a:ext>
                  </a:extLst>
                </a:gridCol>
                <a:gridCol w="3625327">
                  <a:extLst>
                    <a:ext uri="{9D8B030D-6E8A-4147-A177-3AD203B41FA5}">
                      <a16:colId xmlns:a16="http://schemas.microsoft.com/office/drawing/2014/main" val="1075929910"/>
                    </a:ext>
                  </a:extLst>
                </a:gridCol>
                <a:gridCol w="1452285">
                  <a:extLst>
                    <a:ext uri="{9D8B030D-6E8A-4147-A177-3AD203B41FA5}">
                      <a16:colId xmlns:a16="http://schemas.microsoft.com/office/drawing/2014/main" val="2338648067"/>
                    </a:ext>
                  </a:extLst>
                </a:gridCol>
              </a:tblGrid>
              <a:tr h="828338">
                <a:tc>
                  <a:txBody>
                    <a:bodyPr/>
                    <a:lstStyle/>
                    <a:p>
                      <a:pPr>
                        <a:lnSpc>
                          <a:spcPct val="107000"/>
                        </a:lnSpc>
                        <a:spcAft>
                          <a:spcPts val="800"/>
                        </a:spcAft>
                        <a:buNone/>
                      </a:pPr>
                      <a:r>
                        <a:rPr lang="fr-FR" sz="1800" kern="100">
                          <a:effectLst/>
                        </a:rPr>
                        <a:t>Risque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Vraisemblance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Impact</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Niveau initial</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Mesure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Résiduel cible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966340925"/>
                  </a:ext>
                </a:extLst>
              </a:tr>
              <a:tr h="1646792">
                <a:tc>
                  <a:txBody>
                    <a:bodyPr/>
                    <a:lstStyle/>
                    <a:p>
                      <a:pPr>
                        <a:lnSpc>
                          <a:spcPct val="107000"/>
                        </a:lnSpc>
                        <a:spcAft>
                          <a:spcPts val="800"/>
                        </a:spcAft>
                        <a:buNone/>
                      </a:pPr>
                      <a:r>
                        <a:rPr lang="fr-FR" sz="1800" kern="100">
                          <a:effectLst/>
                        </a:rPr>
                        <a:t>Lecture d’un questionnaire par un autre salarié</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dirty="0">
                          <a:effectLst/>
                        </a:rPr>
                        <a:t>Forte</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Très fort</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Critique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RBAC/ABAC, contrôle d’appartenance, tests d’autorisation, journalisation des accès</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Moyen</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734586898"/>
                  </a:ext>
                </a:extLst>
              </a:tr>
              <a:tr h="1173277">
                <a:tc>
                  <a:txBody>
                    <a:bodyPr/>
                    <a:lstStyle/>
                    <a:p>
                      <a:pPr>
                        <a:lnSpc>
                          <a:spcPct val="107000"/>
                        </a:lnSpc>
                        <a:spcAft>
                          <a:spcPts val="800"/>
                        </a:spcAft>
                        <a:buNone/>
                      </a:pPr>
                      <a:r>
                        <a:rPr lang="fr-FR" sz="1800" kern="100">
                          <a:effectLst/>
                        </a:rPr>
                        <a:t>Fuite de mots de passe via logs</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Forte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Fort</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Critique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Suppression des secrets des logs, rotation, contrôle d’accès, secret scanning</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Faible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565011794"/>
                  </a:ext>
                </a:extLst>
              </a:tr>
              <a:tr h="1410035">
                <a:tc>
                  <a:txBody>
                    <a:bodyPr/>
                    <a:lstStyle/>
                    <a:p>
                      <a:pPr>
                        <a:lnSpc>
                          <a:spcPct val="107000"/>
                        </a:lnSpc>
                        <a:spcAft>
                          <a:spcPts val="800"/>
                        </a:spcAft>
                        <a:buNone/>
                      </a:pPr>
                      <a:r>
                        <a:rPr lang="fr-FR" sz="1800" kern="100">
                          <a:effectLst/>
                        </a:rPr>
                        <a:t>Export excessif assureur</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Moyenne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Très fort</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Élevé</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Data mapping, allow-list de champs, chiffrement, contrat, validation DPO</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Faible/Moyen</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440588723"/>
                  </a:ext>
                </a:extLst>
              </a:tr>
              <a:tr h="1410035">
                <a:tc>
                  <a:txBody>
                    <a:bodyPr/>
                    <a:lstStyle/>
                    <a:p>
                      <a:pPr>
                        <a:lnSpc>
                          <a:spcPct val="107000"/>
                        </a:lnSpc>
                        <a:spcAft>
                          <a:spcPts val="800"/>
                        </a:spcAft>
                        <a:buNone/>
                      </a:pPr>
                      <a:r>
                        <a:rPr lang="fr-FR" sz="1800" kern="100">
                          <a:effectLst/>
                        </a:rPr>
                        <a:t>Conservation indéfinie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Forte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Fort</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Élevé</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a:effectLst/>
                        </a:rPr>
                        <a:t>Politique de conservation, purge automatisée, preuve de suppression</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buNone/>
                      </a:pPr>
                      <a:r>
                        <a:rPr lang="fr-FR" sz="1800" kern="100" dirty="0">
                          <a:effectLst/>
                        </a:rPr>
                        <a:t>Faible</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261778862"/>
                  </a:ext>
                </a:extLst>
              </a:tr>
            </a:tbl>
          </a:graphicData>
        </a:graphic>
      </p:graphicFrame>
    </p:spTree>
    <p:extLst>
      <p:ext uri="{BB962C8B-B14F-4D97-AF65-F5344CB8AC3E}">
        <p14:creationId xmlns:p14="http://schemas.microsoft.com/office/powerpoint/2010/main" val="3324446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09701-292E-70D6-6665-DEB0FD11060A}"/>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80CB1C8D-8B1C-E763-AD46-962DD270E4E8}"/>
              </a:ext>
            </a:extLst>
          </p:cNvPr>
          <p:cNvGraphicFramePr>
            <a:graphicFrameLocks noGrp="1"/>
          </p:cNvGraphicFramePr>
          <p:nvPr>
            <p:extLst>
              <p:ext uri="{D42A27DB-BD31-4B8C-83A1-F6EECF244321}">
                <p14:modId xmlns:p14="http://schemas.microsoft.com/office/powerpoint/2010/main" val="4000047846"/>
              </p:ext>
            </p:extLst>
          </p:nvPr>
        </p:nvGraphicFramePr>
        <p:xfrm>
          <a:off x="344246" y="607416"/>
          <a:ext cx="11564470" cy="6019296"/>
        </p:xfrm>
        <a:graphic>
          <a:graphicData uri="http://schemas.openxmlformats.org/drawingml/2006/table">
            <a:tbl>
              <a:tblPr firstRow="1" firstCol="1" bandRow="1">
                <a:tableStyleId>{616DA210-FB5B-4158-B5E0-FEB733F419BA}</a:tableStyleId>
              </a:tblPr>
              <a:tblGrid>
                <a:gridCol w="2312894">
                  <a:extLst>
                    <a:ext uri="{9D8B030D-6E8A-4147-A177-3AD203B41FA5}">
                      <a16:colId xmlns:a16="http://schemas.microsoft.com/office/drawing/2014/main" val="1221118568"/>
                    </a:ext>
                  </a:extLst>
                </a:gridCol>
                <a:gridCol w="2312894">
                  <a:extLst>
                    <a:ext uri="{9D8B030D-6E8A-4147-A177-3AD203B41FA5}">
                      <a16:colId xmlns:a16="http://schemas.microsoft.com/office/drawing/2014/main" val="2119124406"/>
                    </a:ext>
                  </a:extLst>
                </a:gridCol>
                <a:gridCol w="2743199">
                  <a:extLst>
                    <a:ext uri="{9D8B030D-6E8A-4147-A177-3AD203B41FA5}">
                      <a16:colId xmlns:a16="http://schemas.microsoft.com/office/drawing/2014/main" val="2459045543"/>
                    </a:ext>
                  </a:extLst>
                </a:gridCol>
                <a:gridCol w="3087445">
                  <a:extLst>
                    <a:ext uri="{9D8B030D-6E8A-4147-A177-3AD203B41FA5}">
                      <a16:colId xmlns:a16="http://schemas.microsoft.com/office/drawing/2014/main" val="3173909227"/>
                    </a:ext>
                  </a:extLst>
                </a:gridCol>
                <a:gridCol w="1108038">
                  <a:extLst>
                    <a:ext uri="{9D8B030D-6E8A-4147-A177-3AD203B41FA5}">
                      <a16:colId xmlns:a16="http://schemas.microsoft.com/office/drawing/2014/main" val="2484802657"/>
                    </a:ext>
                  </a:extLst>
                </a:gridCol>
              </a:tblGrid>
              <a:tr h="380558">
                <a:tc>
                  <a:txBody>
                    <a:bodyPr/>
                    <a:lstStyle/>
                    <a:p>
                      <a:pPr algn="ctr">
                        <a:lnSpc>
                          <a:spcPct val="107000"/>
                        </a:lnSpc>
                        <a:spcAft>
                          <a:spcPts val="800"/>
                        </a:spcAft>
                        <a:buNone/>
                      </a:pPr>
                      <a:r>
                        <a:rPr lang="fr-FR" sz="1400" kern="100" dirty="0">
                          <a:effectLst/>
                        </a:rPr>
                        <a:t>Constat</a:t>
                      </a: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Article(s)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Preuve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Risque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Gravité</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264607788"/>
                  </a:ext>
                </a:extLst>
              </a:tr>
              <a:tr h="1085869">
                <a:tc>
                  <a:txBody>
                    <a:bodyPr/>
                    <a:lstStyle/>
                    <a:p>
                      <a:pPr algn="ctr">
                        <a:lnSpc>
                          <a:spcPct val="107000"/>
                        </a:lnSpc>
                        <a:spcAft>
                          <a:spcPts val="800"/>
                        </a:spcAft>
                        <a:buNone/>
                      </a:pPr>
                      <a:r>
                        <a:rPr lang="fr-FR" sz="1400" kern="100" dirty="0">
                          <a:effectLst/>
                        </a:rPr>
                        <a:t>Consentement marketing pré-coché</a:t>
                      </a: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dirty="0">
                          <a:effectLst/>
                        </a:rPr>
                        <a:t>Art. 5(1)(a), 6, 7</a:t>
                      </a: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register crée marketingOptIn:true et un consentement marketing sans action utilisateur.</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Prospection sans consentement démontré.</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Élevée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72853987"/>
                  </a:ext>
                </a:extLst>
              </a:tr>
              <a:tr h="647631">
                <a:tc>
                  <a:txBody>
                    <a:bodyPr/>
                    <a:lstStyle/>
                    <a:p>
                      <a:pPr algn="ctr">
                        <a:lnSpc>
                          <a:spcPct val="107000"/>
                        </a:lnSpc>
                        <a:spcAft>
                          <a:spcPts val="800"/>
                        </a:spcAft>
                        <a:buNone/>
                      </a:pPr>
                      <a:r>
                        <a:rPr lang="fr-FR" sz="1400" kern="100">
                          <a:effectLst/>
                        </a:rPr>
                        <a:t>Consentement tiers non spécifique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dirty="0">
                          <a:effectLst/>
                        </a:rPr>
                        <a:t>Art. 5(1)(a), 6, 7</a:t>
                      </a: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thirdParty:true est enregistré automatiquement.</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Transmission à un tiers sans choix granulaire.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Élevée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774507369"/>
                  </a:ext>
                </a:extLst>
              </a:tr>
              <a:tr h="1085869">
                <a:tc>
                  <a:txBody>
                    <a:bodyPr/>
                    <a:lstStyle/>
                    <a:p>
                      <a:pPr algn="ctr">
                        <a:lnSpc>
                          <a:spcPct val="107000"/>
                        </a:lnSpc>
                        <a:spcAft>
                          <a:spcPts val="800"/>
                        </a:spcAft>
                        <a:buNone/>
                      </a:pPr>
                      <a:r>
                        <a:rPr lang="fr-FR" sz="1400" kern="100">
                          <a:effectLst/>
                        </a:rPr>
                        <a:t>Données de santé trop largement accessibles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Art. 5(1)(c), 9, 25, 32</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dirty="0">
                          <a:effectLst/>
                        </a:rPr>
                        <a:t>GET /api/</a:t>
                      </a:r>
                      <a:r>
                        <a:rPr lang="fr-FR" sz="1400" kern="100" dirty="0" err="1">
                          <a:effectLst/>
                        </a:rPr>
                        <a:t>users</a:t>
                      </a:r>
                      <a:r>
                        <a:rPr lang="fr-FR" sz="1400" kern="100" dirty="0">
                          <a:effectLst/>
                        </a:rPr>
                        <a:t>/:id renvoie le profil et tous les questionnaires à tout utilisateur authentifié.</a:t>
                      </a: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Divulgation de données sensibles entre utilisateurs.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Critique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244021553"/>
                  </a:ext>
                </a:extLst>
              </a:tr>
              <a:tr h="647631">
                <a:tc>
                  <a:txBody>
                    <a:bodyPr/>
                    <a:lstStyle/>
                    <a:p>
                      <a:pPr algn="ctr">
                        <a:lnSpc>
                          <a:spcPct val="107000"/>
                        </a:lnSpc>
                        <a:spcAft>
                          <a:spcPts val="800"/>
                        </a:spcAft>
                        <a:buNone/>
                      </a:pPr>
                      <a:r>
                        <a:rPr lang="fr-FR" sz="1400" kern="100">
                          <a:effectLst/>
                        </a:rPr>
                        <a:t>Durées de conservation non définies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Art. 5(1)(e)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retentionDays:null et absence de purge.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dirty="0">
                          <a:effectLst/>
                        </a:rPr>
                        <a:t>Conservation indéfinie et accumulation de risque.</a:t>
                      </a: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Élevée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18389304"/>
                  </a:ext>
                </a:extLst>
              </a:tr>
              <a:tr h="647631">
                <a:tc>
                  <a:txBody>
                    <a:bodyPr/>
                    <a:lstStyle/>
                    <a:p>
                      <a:pPr algn="ctr">
                        <a:lnSpc>
                          <a:spcPct val="107000"/>
                        </a:lnSpc>
                        <a:spcAft>
                          <a:spcPts val="800"/>
                        </a:spcAft>
                        <a:buNone/>
                      </a:pPr>
                      <a:r>
                        <a:rPr lang="fr-FR" sz="1400" kern="100">
                          <a:effectLst/>
                        </a:rPr>
                        <a:t>Minimisation insuffisante de l’export assureur</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Art. 5(1)(c), 6, 9, 28/30 selon rôles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users.map(...) ajoute le profil complet et les questionnaires.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dirty="0">
                          <a:effectLst/>
                        </a:rPr>
                        <a:t>Transmission excessive de données sensibles.</a:t>
                      </a: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Critique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55361626"/>
                  </a:ext>
                </a:extLst>
              </a:tr>
              <a:tr h="1524107">
                <a:tc>
                  <a:txBody>
                    <a:bodyPr/>
                    <a:lstStyle/>
                    <a:p>
                      <a:pPr algn="ctr">
                        <a:lnSpc>
                          <a:spcPct val="107000"/>
                        </a:lnSpc>
                        <a:spcAft>
                          <a:spcPts val="800"/>
                        </a:spcAft>
                        <a:buNone/>
                      </a:pPr>
                      <a:r>
                        <a:rPr lang="fr-FR" sz="1400" kern="100">
                          <a:effectLst/>
                        </a:rPr>
                        <a:t>Transparence insuffisante dans l’interface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Art. 12–14</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L’interface de démonstration collecte des réponses de santé sans information détaillée visible sur finalité, destinataires, conservation et droits.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Information incomplète au moment de la collecte.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dirty="0">
                          <a:effectLst/>
                        </a:rPr>
                        <a:t>Élevée</a:t>
                      </a: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287259279"/>
                  </a:ext>
                </a:extLst>
              </a:tr>
            </a:tbl>
          </a:graphicData>
        </a:graphic>
      </p:graphicFrame>
      <p:sp>
        <p:nvSpPr>
          <p:cNvPr id="3" name="Rectangle 1">
            <a:extLst>
              <a:ext uri="{FF2B5EF4-FFF2-40B4-BE49-F238E27FC236}">
                <a16:creationId xmlns:a16="http://schemas.microsoft.com/office/drawing/2014/main" id="{D6D3A59F-D644-417F-DD9D-903235A85207}"/>
              </a:ext>
            </a:extLst>
          </p:cNvPr>
          <p:cNvSpPr>
            <a:spLocks noChangeArrowheads="1"/>
          </p:cNvSpPr>
          <p:nvPr/>
        </p:nvSpPr>
        <p:spPr bwMode="auto">
          <a:xfrm>
            <a:off x="1250632" y="15021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rgbClr val="8EAADB"/>
                </a:solidFill>
                <a:effectLst/>
                <a:latin typeface="Calibri" panose="020F0502020204030204" pitchFamily="34" charset="0"/>
                <a:ea typeface="Times New Roman" panose="02020603050405020304" pitchFamily="18" charset="0"/>
                <a:cs typeface="Calibri" panose="020F0502020204030204" pitchFamily="34" charset="0"/>
              </a:rPr>
              <a:t>A4. Constats de non-conformité RGPD</a:t>
            </a:r>
            <a:endParaRPr kumimoji="0" lang="fr-FR" altLang="fr-FR" sz="1600" b="0" i="0" u="none" strike="noStrike" cap="none" normalizeH="0" baseline="0" dirty="0">
              <a:ln>
                <a:noFill/>
              </a:ln>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7379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30C35-4586-6548-F6E0-44B9ED0D201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D0D6507-C867-9DD0-39CE-83DE68D481B2}"/>
              </a:ext>
            </a:extLst>
          </p:cNvPr>
          <p:cNvSpPr/>
          <p:nvPr/>
        </p:nvSpPr>
        <p:spPr>
          <a:xfrm>
            <a:off x="8732520" y="0"/>
            <a:ext cx="3474720" cy="6858000"/>
          </a:xfrm>
          <a:prstGeom prst="rect">
            <a:avLst/>
          </a:prstGeom>
          <a:solidFill>
            <a:srgbClr val="237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15BD659-3A92-8BAC-26D6-3CA4B5C9EED9}"/>
              </a:ext>
            </a:extLst>
          </p:cNvPr>
          <p:cNvSpPr/>
          <p:nvPr/>
        </p:nvSpPr>
        <p:spPr>
          <a:xfrm>
            <a:off x="9601200" y="0"/>
            <a:ext cx="2587752" cy="6858000"/>
          </a:xfrm>
          <a:prstGeom prst="rect">
            <a:avLst/>
          </a:prstGeom>
          <a:solidFill>
            <a:srgbClr val="1F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877651C5-DFC1-DE7F-6AB7-F76FF07F9FEC}"/>
              </a:ext>
            </a:extLst>
          </p:cNvPr>
          <p:cNvSpPr txBox="1"/>
          <p:nvPr/>
        </p:nvSpPr>
        <p:spPr>
          <a:xfrm>
            <a:off x="868680" y="2606040"/>
            <a:ext cx="6949440" cy="685800"/>
          </a:xfrm>
          <a:prstGeom prst="rect">
            <a:avLst/>
          </a:prstGeom>
          <a:noFill/>
        </p:spPr>
        <p:txBody>
          <a:bodyPr wrap="square" lIns="36576" tIns="18288" rIns="36576" bIns="18288">
            <a:spAutoFit/>
          </a:bodyPr>
          <a:lstStyle/>
          <a:p>
            <a:pPr>
              <a:defRPr sz="2900" b="0">
                <a:solidFill>
                  <a:srgbClr val="FFFFFF"/>
                </a:solidFill>
                <a:latin typeface="Aptos"/>
              </a:defRPr>
            </a:pPr>
            <a:r>
              <a:t>Produit et Storytelling</a:t>
            </a:r>
          </a:p>
        </p:txBody>
      </p:sp>
      <p:sp>
        <p:nvSpPr>
          <p:cNvPr id="7" name="TextBox 6">
            <a:extLst>
              <a:ext uri="{FF2B5EF4-FFF2-40B4-BE49-F238E27FC236}">
                <a16:creationId xmlns:a16="http://schemas.microsoft.com/office/drawing/2014/main" id="{0FF85FC8-3990-0E50-5F09-62AD128E2024}"/>
              </a:ext>
            </a:extLst>
          </p:cNvPr>
          <p:cNvSpPr txBox="1"/>
          <p:nvPr/>
        </p:nvSpPr>
        <p:spPr>
          <a:xfrm>
            <a:off x="728831" y="2654743"/>
            <a:ext cx="6949440" cy="821763"/>
          </a:xfrm>
          <a:prstGeom prst="rect">
            <a:avLst/>
          </a:prstGeom>
          <a:noFill/>
        </p:spPr>
        <p:txBody>
          <a:bodyPr wrap="square" lIns="36576" tIns="18288" rIns="36576" bIns="18288">
            <a:spAutoFit/>
          </a:bodyPr>
          <a:lstStyle/>
          <a:p>
            <a:pPr>
              <a:defRPr sz="1900" b="0">
                <a:solidFill>
                  <a:srgbClr val="DCE5EB"/>
                </a:solidFill>
                <a:latin typeface="Aptos"/>
              </a:defRPr>
            </a:pPr>
            <a:r>
              <a:rPr lang="fr-FR" altLang="fr-FR" sz="3200" dirty="0">
                <a:solidFill>
                  <a:srgbClr val="1F3864"/>
                </a:solidFill>
                <a:latin typeface="Calibri" panose="020F0502020204030204" pitchFamily="34" charset="0"/>
                <a:ea typeface="Times New Roman" panose="02020603050405020304" pitchFamily="18" charset="0"/>
                <a:cs typeface="Calibri" panose="020F0502020204030204" pitchFamily="34" charset="0"/>
              </a:rPr>
              <a:t>B. Audit de Sécurité</a:t>
            </a:r>
            <a:endParaRPr lang="fr-FR" altLang="fr-FR" sz="3200" dirty="0">
              <a:solidFill>
                <a:srgbClr val="1F3864"/>
              </a:solidFill>
              <a:latin typeface="Calibri" panose="020F0502020204030204" pitchFamily="34" charset="0"/>
              <a:ea typeface="Times New Roman" panose="02020603050405020304" pitchFamily="18" charset="0"/>
              <a:cs typeface="Times New Roman" panose="02020603050405020304" pitchFamily="18" charset="0"/>
            </a:endParaRPr>
          </a:p>
          <a:p>
            <a:pPr>
              <a:defRPr sz="1900" b="0">
                <a:solidFill>
                  <a:srgbClr val="DCE5EB"/>
                </a:solidFill>
                <a:latin typeface="Aptos"/>
              </a:defRPr>
            </a:pPr>
            <a:endParaRPr dirty="0"/>
          </a:p>
        </p:txBody>
      </p:sp>
    </p:spTree>
    <p:extLst>
      <p:ext uri="{BB962C8B-B14F-4D97-AF65-F5344CB8AC3E}">
        <p14:creationId xmlns:p14="http://schemas.microsoft.com/office/powerpoint/2010/main" val="763115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2682E-C443-1281-9428-356618443136}"/>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1544F5E9-F62E-BC19-1EFE-2F707028CB3C}"/>
              </a:ext>
            </a:extLst>
          </p:cNvPr>
          <p:cNvGraphicFramePr>
            <a:graphicFrameLocks noGrp="1"/>
          </p:cNvGraphicFramePr>
          <p:nvPr>
            <p:extLst>
              <p:ext uri="{D42A27DB-BD31-4B8C-83A1-F6EECF244321}">
                <p14:modId xmlns:p14="http://schemas.microsoft.com/office/powerpoint/2010/main" val="3634107728"/>
              </p:ext>
            </p:extLst>
          </p:nvPr>
        </p:nvGraphicFramePr>
        <p:xfrm>
          <a:off x="210447" y="598232"/>
          <a:ext cx="11709027" cy="6215298"/>
        </p:xfrm>
        <a:graphic>
          <a:graphicData uri="http://schemas.openxmlformats.org/drawingml/2006/table">
            <a:tbl>
              <a:tblPr firstRow="1" firstCol="1" bandRow="1">
                <a:tableStyleId>{616DA210-FB5B-4158-B5E0-FEB733F419BA}</a:tableStyleId>
              </a:tblPr>
              <a:tblGrid>
                <a:gridCol w="463866">
                  <a:extLst>
                    <a:ext uri="{9D8B030D-6E8A-4147-A177-3AD203B41FA5}">
                      <a16:colId xmlns:a16="http://schemas.microsoft.com/office/drawing/2014/main" val="1195304637"/>
                    </a:ext>
                  </a:extLst>
                </a:gridCol>
                <a:gridCol w="3766016">
                  <a:extLst>
                    <a:ext uri="{9D8B030D-6E8A-4147-A177-3AD203B41FA5}">
                      <a16:colId xmlns:a16="http://schemas.microsoft.com/office/drawing/2014/main" val="3072731185"/>
                    </a:ext>
                  </a:extLst>
                </a:gridCol>
                <a:gridCol w="2350180">
                  <a:extLst>
                    <a:ext uri="{9D8B030D-6E8A-4147-A177-3AD203B41FA5}">
                      <a16:colId xmlns:a16="http://schemas.microsoft.com/office/drawing/2014/main" val="3050967406"/>
                    </a:ext>
                  </a:extLst>
                </a:gridCol>
                <a:gridCol w="2156259">
                  <a:extLst>
                    <a:ext uri="{9D8B030D-6E8A-4147-A177-3AD203B41FA5}">
                      <a16:colId xmlns:a16="http://schemas.microsoft.com/office/drawing/2014/main" val="1979760407"/>
                    </a:ext>
                  </a:extLst>
                </a:gridCol>
                <a:gridCol w="2972706">
                  <a:extLst>
                    <a:ext uri="{9D8B030D-6E8A-4147-A177-3AD203B41FA5}">
                      <a16:colId xmlns:a16="http://schemas.microsoft.com/office/drawing/2014/main" val="2827793258"/>
                    </a:ext>
                  </a:extLst>
                </a:gridCol>
              </a:tblGrid>
              <a:tr h="384976">
                <a:tc>
                  <a:txBody>
                    <a:bodyPr/>
                    <a:lstStyle/>
                    <a:p>
                      <a:pPr algn="ctr">
                        <a:lnSpc>
                          <a:spcPct val="107000"/>
                        </a:lnSpc>
                        <a:spcAft>
                          <a:spcPts val="800"/>
                        </a:spcAft>
                        <a:buNone/>
                      </a:pPr>
                      <a:r>
                        <a:rPr lang="fr-FR" sz="1400" kern="100">
                          <a:effectLst/>
                        </a:rPr>
                        <a:t>ID</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Description / preuve reproductible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OWASP</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CVSS v3.1 indicatif</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Impact</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216689237"/>
                  </a:ext>
                </a:extLst>
              </a:tr>
              <a:tr h="878782">
                <a:tc>
                  <a:txBody>
                    <a:bodyPr/>
                    <a:lstStyle/>
                    <a:p>
                      <a:pPr algn="ctr">
                        <a:lnSpc>
                          <a:spcPct val="107000"/>
                        </a:lnSpc>
                        <a:spcAft>
                          <a:spcPts val="800"/>
                        </a:spcAft>
                        <a:buNone/>
                      </a:pPr>
                      <a:r>
                        <a:rPr lang="fr-FR" sz="1400" kern="100">
                          <a:effectLst/>
                        </a:rPr>
                        <a:t>S1</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log('info','login_attempt',{email,password}) et même pratique sur register. Reproductible en appelant /api/login puis en consultant logs/app.log.</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kern="100">
                          <a:effectLst/>
                        </a:rPr>
                        <a:t>A09 — Security Logging and Monitoring Failures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kern="100">
                          <a:effectLst/>
                        </a:rPr>
                        <a:t>9.1</a:t>
                      </a:r>
                      <a:br>
                        <a:rPr lang="en-US" sz="1400" kern="100">
                          <a:effectLst/>
                        </a:rPr>
                      </a:br>
                      <a:r>
                        <a:rPr lang="en-US" sz="1400" kern="100">
                          <a:effectLst/>
                        </a:rPr>
                        <a:t>AV:N/AC:L/PR:L/UI:N/S:U/C:H/I:H/A:N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Vol de comptes, réutilisation de mots de passe.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652997348"/>
                  </a:ext>
                </a:extLst>
              </a:tr>
              <a:tr h="656621">
                <a:tc>
                  <a:txBody>
                    <a:bodyPr/>
                    <a:lstStyle/>
                    <a:p>
                      <a:pPr algn="ctr">
                        <a:lnSpc>
                          <a:spcPct val="107000"/>
                        </a:lnSpc>
                        <a:spcAft>
                          <a:spcPts val="800"/>
                        </a:spcAft>
                        <a:buNone/>
                      </a:pPr>
                      <a:r>
                        <a:rPr lang="fr-FR" sz="1400" kern="100">
                          <a:effectLst/>
                        </a:rPr>
                        <a:t>S2</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sessionSecret, clé assureur et mot de passe SMTP présents dans src/config.js.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A05 — Security Misconfiguration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kern="100">
                          <a:effectLst/>
                        </a:rPr>
                        <a:t>8.1</a:t>
                      </a:r>
                      <a:br>
                        <a:rPr lang="en-US" sz="1400" kern="100">
                          <a:effectLst/>
                        </a:rPr>
                      </a:br>
                      <a:r>
                        <a:rPr lang="en-US" sz="1400" kern="100">
                          <a:effectLst/>
                        </a:rPr>
                        <a:t>AV:N/AC:L/PR:L/UI:N/S:U/C:H/I:H/A:N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Compromission de services et propagation.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897517524"/>
                  </a:ext>
                </a:extLst>
              </a:tr>
              <a:tr h="656621">
                <a:tc>
                  <a:txBody>
                    <a:bodyPr/>
                    <a:lstStyle/>
                    <a:p>
                      <a:pPr algn="ctr">
                        <a:lnSpc>
                          <a:spcPct val="107000"/>
                        </a:lnSpc>
                        <a:spcAft>
                          <a:spcPts val="800"/>
                        </a:spcAft>
                        <a:buNone/>
                      </a:pPr>
                      <a:r>
                        <a:rPr lang="fr-FR" sz="1400" kern="100">
                          <a:effectLst/>
                        </a:rPr>
                        <a:t>S3</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kern="100">
                          <a:effectLst/>
                        </a:rPr>
                        <a:t>crypto.createHash('sha256').update(pwd).digest('hex').</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A02 — Cryptographic Failures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kern="100">
                          <a:effectLst/>
                        </a:rPr>
                        <a:t>7.5</a:t>
                      </a:r>
                      <a:br>
                        <a:rPr lang="en-US" sz="1400" kern="100">
                          <a:effectLst/>
                        </a:rPr>
                      </a:br>
                      <a:r>
                        <a:rPr lang="en-US" sz="1400" kern="100">
                          <a:effectLst/>
                        </a:rPr>
                        <a:t>AV:N/AC:L/PR:N/UI:N/S:U/C:H/I:N/A:N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Attaques hors ligne accélérées sur les hashes.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201248"/>
                  </a:ext>
                </a:extLst>
              </a:tr>
              <a:tr h="656621">
                <a:tc>
                  <a:txBody>
                    <a:bodyPr/>
                    <a:lstStyle/>
                    <a:p>
                      <a:pPr algn="ctr">
                        <a:lnSpc>
                          <a:spcPct val="107000"/>
                        </a:lnSpc>
                        <a:spcAft>
                          <a:spcPts val="800"/>
                        </a:spcAft>
                        <a:buNone/>
                      </a:pPr>
                      <a:r>
                        <a:rPr lang="fr-FR" sz="1400" kern="100">
                          <a:effectLst/>
                        </a:rPr>
                        <a:t>S4</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Jeton = base64 de user.id + seq + Date.now(), stocké sans expiration.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kern="100">
                          <a:effectLst/>
                        </a:rPr>
                        <a:t>A07 — Identification and Authentication Failures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kern="100">
                          <a:effectLst/>
                        </a:rPr>
                        <a:t>8.1</a:t>
                      </a:r>
                      <a:br>
                        <a:rPr lang="en-US" sz="1400" kern="100">
                          <a:effectLst/>
                        </a:rPr>
                      </a:br>
                      <a:r>
                        <a:rPr lang="en-US" sz="1400" kern="100">
                          <a:effectLst/>
                        </a:rPr>
                        <a:t>AV:N/AC:H/PR:N/UI:N/S:U/C:H/I:H/A:N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Usurpation si prédiction/obtention du token.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240002743"/>
                  </a:ext>
                </a:extLst>
              </a:tr>
              <a:tr h="656621">
                <a:tc>
                  <a:txBody>
                    <a:bodyPr/>
                    <a:lstStyle/>
                    <a:p>
                      <a:pPr algn="ctr">
                        <a:lnSpc>
                          <a:spcPct val="107000"/>
                        </a:lnSpc>
                        <a:spcAft>
                          <a:spcPts val="800"/>
                        </a:spcAft>
                        <a:buNone/>
                      </a:pPr>
                      <a:r>
                        <a:rPr lang="fr-FR" sz="1400" kern="100">
                          <a:effectLst/>
                        </a:rPr>
                        <a:t>S5</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GET /api/users/:id ne vérifie ni rôle ni appartenance avant de renvoyer questionnaires.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A01 — Broken Access Control</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kern="100">
                          <a:effectLst/>
                        </a:rPr>
                        <a:t>8.1</a:t>
                      </a:r>
                      <a:br>
                        <a:rPr lang="en-US" sz="1400" kern="100">
                          <a:effectLst/>
                        </a:rPr>
                      </a:br>
                      <a:r>
                        <a:rPr lang="en-US" sz="1400" kern="100">
                          <a:effectLst/>
                        </a:rPr>
                        <a:t>AV:N/AC:L/PR:L/UI:N/S:U/C:H/I:L/A:N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Lecture de données de santé d’un tiers.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885441510"/>
                  </a:ext>
                </a:extLst>
              </a:tr>
              <a:tr h="878782">
                <a:tc>
                  <a:txBody>
                    <a:bodyPr/>
                    <a:lstStyle/>
                    <a:p>
                      <a:pPr algn="ctr">
                        <a:lnSpc>
                          <a:spcPct val="107000"/>
                        </a:lnSpc>
                        <a:spcAft>
                          <a:spcPts val="800"/>
                        </a:spcAft>
                        <a:buNone/>
                      </a:pPr>
                      <a:r>
                        <a:rPr lang="fr-FR" sz="1400" kern="100">
                          <a:effectLst/>
                        </a:rPr>
                        <a:t>S6</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db.query('users', filter) puis new Function(...) exécute la chaîne fournie par le client.</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A03 — Injection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kern="100">
                          <a:effectLst/>
                        </a:rPr>
                        <a:t>9.8</a:t>
                      </a:r>
                      <a:br>
                        <a:rPr lang="en-US" sz="1400" kern="100">
                          <a:effectLst/>
                        </a:rPr>
                      </a:br>
                      <a:r>
                        <a:rPr lang="en-US" sz="1400" kern="100">
                          <a:effectLst/>
                        </a:rPr>
                        <a:t>AV:N/AC:L/PR:N/UI:N/S:U/C:H/I:H/A:H</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Exécution de logique arbitraire dans le contexte Node.js, selon les primitives disponibles.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171492447"/>
                  </a:ext>
                </a:extLst>
              </a:tr>
              <a:tr h="656621">
                <a:tc>
                  <a:txBody>
                    <a:bodyPr/>
                    <a:lstStyle/>
                    <a:p>
                      <a:pPr algn="ctr">
                        <a:lnSpc>
                          <a:spcPct val="107000"/>
                        </a:lnSpc>
                        <a:spcAft>
                          <a:spcPts val="800"/>
                        </a:spcAft>
                        <a:buNone/>
                      </a:pPr>
                      <a:r>
                        <a:rPr lang="fr-FR" sz="1400" kern="100">
                          <a:effectLst/>
                        </a:rPr>
                        <a:t>S7</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cors() ouvre les origines à toutes les applications.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A05 — Security Misconfiguration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kern="100">
                          <a:effectLst/>
                        </a:rPr>
                        <a:t>5.3</a:t>
                      </a:r>
                      <a:br>
                        <a:rPr lang="en-US" sz="1400" kern="100">
                          <a:effectLst/>
                        </a:rPr>
                      </a:br>
                      <a:r>
                        <a:rPr lang="en-US" sz="1400" kern="100">
                          <a:effectLst/>
                        </a:rPr>
                        <a:t>AV:N/AC:L/PR:N/UI:R/S:U/C:L/I:L/A:N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Augmente la surface d’attaque ; gravité dépendante du contexte navigateur/auth.</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004417419"/>
                  </a:ext>
                </a:extLst>
              </a:tr>
              <a:tr h="656621">
                <a:tc>
                  <a:txBody>
                    <a:bodyPr/>
                    <a:lstStyle/>
                    <a:p>
                      <a:pPr algn="ctr">
                        <a:lnSpc>
                          <a:spcPct val="107000"/>
                        </a:lnSpc>
                        <a:spcAft>
                          <a:spcPts val="800"/>
                        </a:spcAft>
                        <a:buNone/>
                      </a:pPr>
                      <a:r>
                        <a:rPr lang="fr-FR" sz="1400" kern="100">
                          <a:effectLst/>
                        </a:rPr>
                        <a:t>S8</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Jeton accepté dans req.query.token.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a:effectLst/>
                        </a:rPr>
                        <a:t>A07 / A04</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kern="100">
                          <a:effectLst/>
                        </a:rPr>
                        <a:t>6.5</a:t>
                      </a:r>
                      <a:br>
                        <a:rPr lang="en-US" sz="1400" kern="100">
                          <a:effectLst/>
                        </a:rPr>
                      </a:br>
                      <a:r>
                        <a:rPr lang="en-US" sz="1400" kern="100">
                          <a:effectLst/>
                        </a:rPr>
                        <a:t>AV:N/AC:L/PR:N/UI:R/S:U/C:H/I:N/A:N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400" kern="100" dirty="0">
                          <a:effectLst/>
                        </a:rPr>
                        <a:t>Fuite via URL, historique, logs ou </a:t>
                      </a:r>
                      <a:r>
                        <a:rPr lang="fr-FR" sz="1400" kern="100" dirty="0" err="1">
                          <a:effectLst/>
                        </a:rPr>
                        <a:t>referer</a:t>
                      </a:r>
                      <a:r>
                        <a:rPr lang="fr-FR" sz="1400" kern="100" dirty="0">
                          <a:effectLst/>
                        </a:rPr>
                        <a:t> selon architecture.</a:t>
                      </a: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225247245"/>
                  </a:ext>
                </a:extLst>
              </a:tr>
            </a:tbl>
          </a:graphicData>
        </a:graphic>
      </p:graphicFrame>
      <p:sp>
        <p:nvSpPr>
          <p:cNvPr id="4" name="ZoneTexte 3">
            <a:extLst>
              <a:ext uri="{FF2B5EF4-FFF2-40B4-BE49-F238E27FC236}">
                <a16:creationId xmlns:a16="http://schemas.microsoft.com/office/drawing/2014/main" id="{86AE5BBE-6635-7FA9-465A-16EB498288B6}"/>
              </a:ext>
            </a:extLst>
          </p:cNvPr>
          <p:cNvSpPr txBox="1"/>
          <p:nvPr/>
        </p:nvSpPr>
        <p:spPr>
          <a:xfrm>
            <a:off x="228604" y="81165"/>
            <a:ext cx="6094206" cy="375552"/>
          </a:xfrm>
          <a:prstGeom prst="rect">
            <a:avLst/>
          </a:prstGeom>
          <a:noFill/>
        </p:spPr>
        <p:txBody>
          <a:bodyPr wrap="square">
            <a:spAutoFit/>
          </a:bodyPr>
          <a:lstStyle/>
          <a:p>
            <a:pPr>
              <a:lnSpc>
                <a:spcPct val="107000"/>
              </a:lnSpc>
              <a:spcBef>
                <a:spcPts val="800"/>
              </a:spcBef>
              <a:spcAft>
                <a:spcPts val="400"/>
              </a:spcAft>
              <a:buNone/>
            </a:pPr>
            <a:r>
              <a:rPr lang="fr-FR" sz="1800" b="1" kern="100" dirty="0">
                <a:solidFill>
                  <a:srgbClr val="8EAADB"/>
                </a:solidFill>
                <a:effectLst/>
                <a:latin typeface="Calibri" panose="020F0502020204030204" pitchFamily="34" charset="0"/>
                <a:ea typeface="Times New Roman" panose="02020603050405020304" pitchFamily="18" charset="0"/>
                <a:cs typeface="Calibri" panose="020F0502020204030204" pitchFamily="34" charset="0"/>
              </a:rPr>
              <a:t>B1. Constats techniques et scores CVSS</a:t>
            </a:r>
            <a:endParaRPr lang="fr-FR" sz="18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3341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CC70B-07C7-74E1-B222-FC48B62C817B}"/>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0EC0C634-350C-04D5-775C-FE1E7492F0BD}"/>
              </a:ext>
            </a:extLst>
          </p:cNvPr>
          <p:cNvSpPr txBox="1"/>
          <p:nvPr/>
        </p:nvSpPr>
        <p:spPr>
          <a:xfrm>
            <a:off x="645458" y="468730"/>
            <a:ext cx="10951285" cy="5201424"/>
          </a:xfrm>
          <a:prstGeom prst="rect">
            <a:avLst/>
          </a:prstGeom>
          <a:noFill/>
        </p:spPr>
        <p:txBody>
          <a:bodyPr wrap="square">
            <a:spAutoFit/>
          </a:bodyPr>
          <a:lstStyle/>
          <a:p>
            <a:pPr>
              <a:lnSpc>
                <a:spcPct val="107000"/>
              </a:lnSpc>
              <a:spcBef>
                <a:spcPts val="800"/>
              </a:spcBef>
              <a:spcAft>
                <a:spcPts val="400"/>
              </a:spcAft>
              <a:buNone/>
            </a:pPr>
            <a:r>
              <a:rPr lang="fr-FR" sz="4400" b="1" kern="100" dirty="0">
                <a:solidFill>
                  <a:srgbClr val="8EAADB"/>
                </a:solidFill>
                <a:effectLst/>
                <a:latin typeface="Calibri" panose="020F0502020204030204" pitchFamily="34" charset="0"/>
                <a:ea typeface="Times New Roman" panose="02020603050405020304" pitchFamily="18" charset="0"/>
                <a:cs typeface="Calibri" panose="020F0502020204030204" pitchFamily="34" charset="0"/>
              </a:rPr>
              <a:t>B2. Preuves clés dans le code</a:t>
            </a:r>
            <a:br>
              <a:rPr lang="fr-FR" sz="4400" b="1" kern="100" dirty="0">
                <a:solidFill>
                  <a:srgbClr val="8EAADB"/>
                </a:solidFill>
                <a:effectLst/>
                <a:latin typeface="Calibri" panose="020F0502020204030204" pitchFamily="34" charset="0"/>
                <a:ea typeface="Times New Roman" panose="02020603050405020304" pitchFamily="18" charset="0"/>
                <a:cs typeface="Calibri" panose="020F0502020204030204" pitchFamily="34" charset="0"/>
              </a:rPr>
            </a:br>
            <a:br>
              <a:rPr lang="fr-FR" sz="4400" b="1" kern="100" dirty="0">
                <a:solidFill>
                  <a:srgbClr val="8EAADB"/>
                </a:solidFill>
                <a:effectLst/>
                <a:latin typeface="Calibri" panose="020F0502020204030204" pitchFamily="34" charset="0"/>
                <a:ea typeface="Times New Roman" panose="02020603050405020304" pitchFamily="18" charset="0"/>
                <a:cs typeface="Calibri" panose="020F0502020204030204" pitchFamily="34" charset="0"/>
              </a:rPr>
            </a:br>
            <a:r>
              <a:rPr lang="fr-FR" sz="40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S1 — secrets dans les logs</a:t>
            </a:r>
            <a:endParaRPr lang="fr-FR" sz="44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buNone/>
            </a:pPr>
            <a:r>
              <a:rPr lang="en-US" sz="1800" kern="100" dirty="0" err="1">
                <a:effectLst/>
                <a:latin typeface="Consolas" panose="020B0609020204030204" pitchFamily="49" charset="0"/>
                <a:ea typeface="Calibri" panose="020F0502020204030204" pitchFamily="34" charset="0"/>
                <a:cs typeface="Arial" panose="020B0604020202020204" pitchFamily="34" charset="0"/>
              </a:rPr>
              <a:t>src</a:t>
            </a:r>
            <a:r>
              <a:rPr lang="en-US" sz="1800" kern="100" dirty="0">
                <a:effectLst/>
                <a:latin typeface="Consolas" panose="020B0609020204030204" pitchFamily="49" charset="0"/>
                <a:ea typeface="Calibri" panose="020F0502020204030204" pitchFamily="34" charset="0"/>
                <a:cs typeface="Arial" panose="020B0604020202020204" pitchFamily="34" charset="0"/>
              </a:rPr>
              <a:t>/routes/accounts.js</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 </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log('info', '</a:t>
            </a:r>
            <a:r>
              <a:rPr lang="en-US" sz="1800" kern="100" dirty="0" err="1">
                <a:effectLst/>
                <a:latin typeface="Consolas" panose="020B0609020204030204" pitchFamily="49" charset="0"/>
                <a:ea typeface="Calibri" panose="020F0502020204030204" pitchFamily="34" charset="0"/>
                <a:cs typeface="Arial" panose="020B0604020202020204" pitchFamily="34" charset="0"/>
              </a:rPr>
              <a:t>login_attempt</a:t>
            </a:r>
            <a:r>
              <a:rPr lang="en-US" sz="1800" kern="100" dirty="0">
                <a:effectLst/>
                <a:latin typeface="Consolas" panose="020B0609020204030204" pitchFamily="49" charset="0"/>
                <a:ea typeface="Calibri" panose="020F0502020204030204" pitchFamily="34" charset="0"/>
                <a:cs typeface="Arial" panose="020B0604020202020204" pitchFamily="34" charset="0"/>
              </a:rPr>
              <a:t>', {</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  email, password</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 </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log('info', '</a:t>
            </a:r>
            <a:r>
              <a:rPr lang="en-US" sz="1800" kern="100" dirty="0" err="1">
                <a:effectLst/>
                <a:latin typeface="Consolas" panose="020B0609020204030204" pitchFamily="49" charset="0"/>
                <a:ea typeface="Calibri" panose="020F0502020204030204" pitchFamily="34" charset="0"/>
                <a:cs typeface="Arial" panose="020B0604020202020204" pitchFamily="34" charset="0"/>
              </a:rPr>
              <a:t>register_attempt</a:t>
            </a:r>
            <a:r>
              <a:rPr lang="en-US" sz="1800" kern="100" dirty="0">
                <a:effectLst/>
                <a:latin typeface="Consolas" panose="020B0609020204030204" pitchFamily="49" charset="0"/>
                <a:ea typeface="Calibri" panose="020F0502020204030204" pitchFamily="34" charset="0"/>
                <a:cs typeface="Arial" panose="020B0604020202020204" pitchFamily="34" charset="0"/>
              </a:rPr>
              <a:t>', {</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  email, password, company</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alibri" panose="020F0502020204030204" pitchFamily="34" charset="0"/>
                <a:ea typeface="Calibri" panose="020F0502020204030204" pitchFamily="34" charset="0"/>
                <a:cs typeface="Arial" panose="020B0604020202020204" pitchFamily="34" charset="0"/>
              </a:rPr>
              <a:t> </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882160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FEB60-413A-974B-5700-1F731E9D0E1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3033B1D7-3E2F-A219-9258-4F343703ABE1}"/>
              </a:ext>
            </a:extLst>
          </p:cNvPr>
          <p:cNvSpPr txBox="1"/>
          <p:nvPr/>
        </p:nvSpPr>
        <p:spPr>
          <a:xfrm>
            <a:off x="734210" y="1658806"/>
            <a:ext cx="6094206" cy="3158493"/>
          </a:xfrm>
          <a:prstGeom prst="rect">
            <a:avLst/>
          </a:prstGeom>
          <a:noFill/>
        </p:spPr>
        <p:txBody>
          <a:bodyPr wrap="square">
            <a:spAutoFit/>
          </a:bodyPr>
          <a:lstStyle/>
          <a:p>
            <a:pPr>
              <a:lnSpc>
                <a:spcPct val="107000"/>
              </a:lnSpc>
              <a:spcBef>
                <a:spcPts val="800"/>
              </a:spcBef>
              <a:spcAft>
                <a:spcPts val="400"/>
              </a:spcAft>
              <a:buNone/>
            </a:pPr>
            <a:r>
              <a:rPr lang="en-US" sz="40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S2 — secrets </a:t>
            </a:r>
            <a:r>
              <a:rPr lang="en-US" sz="4000" b="1" kern="100" dirty="0" err="1">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codés</a:t>
            </a:r>
            <a:r>
              <a:rPr lang="en-US" sz="40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4000" b="1" kern="100" dirty="0" err="1">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en</a:t>
            </a:r>
            <a:r>
              <a:rPr lang="en-US" sz="40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 dur</a:t>
            </a:r>
            <a:endParaRPr lang="fr-FR" sz="40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buNone/>
            </a:pPr>
            <a:r>
              <a:rPr lang="en-US" sz="1800" kern="100" dirty="0" err="1">
                <a:effectLst/>
                <a:latin typeface="Consolas" panose="020B0609020204030204" pitchFamily="49" charset="0"/>
                <a:ea typeface="Calibri" panose="020F0502020204030204" pitchFamily="34" charset="0"/>
                <a:cs typeface="Arial" panose="020B0604020202020204" pitchFamily="34" charset="0"/>
              </a:rPr>
              <a:t>src</a:t>
            </a:r>
            <a:r>
              <a:rPr lang="en-US" sz="1800" kern="100" dirty="0">
                <a:effectLst/>
                <a:latin typeface="Consolas" panose="020B0609020204030204" pitchFamily="49" charset="0"/>
                <a:ea typeface="Calibri" panose="020F0502020204030204" pitchFamily="34" charset="0"/>
                <a:cs typeface="Arial" panose="020B0604020202020204" pitchFamily="34" charset="0"/>
              </a:rPr>
              <a:t>/config.js</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 </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err="1">
                <a:effectLst/>
                <a:latin typeface="Consolas" panose="020B0609020204030204" pitchFamily="49" charset="0"/>
                <a:ea typeface="Calibri" panose="020F0502020204030204" pitchFamily="34" charset="0"/>
                <a:cs typeface="Arial" panose="020B0604020202020204" pitchFamily="34" charset="0"/>
              </a:rPr>
              <a:t>sessionSecret</a:t>
            </a:r>
            <a:r>
              <a:rPr lang="en-US" sz="1800" kern="100" dirty="0">
                <a:effectLst/>
                <a:latin typeface="Consolas" panose="020B0609020204030204" pitchFamily="49" charset="0"/>
                <a:ea typeface="Calibri" panose="020F0502020204030204" pitchFamily="34" charset="0"/>
                <a:cs typeface="Arial" panose="020B0604020202020204" pitchFamily="34" charset="0"/>
              </a:rPr>
              <a:t>: 'wellwork-prod-2024',</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err="1">
                <a:effectLst/>
                <a:latin typeface="Consolas" panose="020B0609020204030204" pitchFamily="49" charset="0"/>
                <a:ea typeface="Calibri" panose="020F0502020204030204" pitchFamily="34" charset="0"/>
                <a:cs typeface="Arial" panose="020B0604020202020204" pitchFamily="34" charset="0"/>
              </a:rPr>
              <a:t>insurerApiKey</a:t>
            </a:r>
            <a:r>
              <a:rPr lang="en-US" sz="1800" kern="100" dirty="0">
                <a:effectLst/>
                <a:latin typeface="Consolas" panose="020B0609020204030204" pitchFamily="49" charset="0"/>
                <a:ea typeface="Calibri" panose="020F0502020204030204" pitchFamily="34" charset="0"/>
                <a:cs typeface="Arial" panose="020B0604020202020204" pitchFamily="34" charset="0"/>
              </a:rPr>
              <a:t>: '</a:t>
            </a:r>
            <a:r>
              <a:rPr lang="en-US" sz="1800" kern="100" dirty="0" err="1">
                <a:effectLst/>
                <a:latin typeface="Consolas" panose="020B0609020204030204" pitchFamily="49" charset="0"/>
                <a:ea typeface="Calibri" panose="020F0502020204030204" pitchFamily="34" charset="0"/>
                <a:cs typeface="Arial" panose="020B0604020202020204" pitchFamily="34" charset="0"/>
              </a:rPr>
              <a:t>ins_live</a:t>
            </a:r>
            <a:r>
              <a:rPr lang="en-US" sz="1800" kern="100" dirty="0">
                <a:effectLst/>
                <a:latin typeface="Consolas" panose="020B0609020204030204" pitchFamily="49" charset="0"/>
                <a:ea typeface="Calibri" panose="020F0502020204030204" pitchFamily="34" charset="0"/>
                <a:cs typeface="Arial" panose="020B0604020202020204" pitchFamily="34" charset="0"/>
              </a:rPr>
              <a:t>_...',</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smtp: {</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  user: '</a:t>
            </a:r>
            <a:r>
              <a:rPr lang="en-US" sz="1800" kern="100" dirty="0" err="1">
                <a:effectLst/>
                <a:latin typeface="Consolas" panose="020B0609020204030204" pitchFamily="49" charset="0"/>
                <a:ea typeface="Calibri" panose="020F0502020204030204" pitchFamily="34" charset="0"/>
                <a:cs typeface="Arial" panose="020B0604020202020204" pitchFamily="34" charset="0"/>
              </a:rPr>
              <a:t>noreply</a:t>
            </a:r>
            <a:r>
              <a:rPr lang="en-US" sz="1800" kern="100" dirty="0">
                <a:effectLst/>
                <a:latin typeface="Consolas" panose="020B0609020204030204" pitchFamily="49" charset="0"/>
                <a:ea typeface="Calibri" panose="020F0502020204030204" pitchFamily="34" charset="0"/>
                <a:cs typeface="Arial" panose="020B0604020202020204" pitchFamily="34" charset="0"/>
              </a:rPr>
              <a:t>@...',</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  pass: 'Sup3rMail!'</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62819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13EDD-FF1C-177E-58FA-FAD9C6D20879}"/>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01263921-8FE1-E3CD-2F9A-DD3D01B09FC4}"/>
              </a:ext>
            </a:extLst>
          </p:cNvPr>
          <p:cNvSpPr txBox="1"/>
          <p:nvPr/>
        </p:nvSpPr>
        <p:spPr>
          <a:xfrm>
            <a:off x="680422" y="1737590"/>
            <a:ext cx="6094206" cy="2269404"/>
          </a:xfrm>
          <a:prstGeom prst="rect">
            <a:avLst/>
          </a:prstGeom>
          <a:noFill/>
        </p:spPr>
        <p:txBody>
          <a:bodyPr wrap="square">
            <a:spAutoFit/>
          </a:bodyPr>
          <a:lstStyle/>
          <a:p>
            <a:pPr>
              <a:lnSpc>
                <a:spcPct val="107000"/>
              </a:lnSpc>
              <a:spcBef>
                <a:spcPts val="800"/>
              </a:spcBef>
              <a:spcAft>
                <a:spcPts val="400"/>
              </a:spcAft>
              <a:buNone/>
            </a:pPr>
            <a:r>
              <a:rPr lang="en-US" sz="40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S3 — hash </a:t>
            </a:r>
            <a:r>
              <a:rPr lang="en-US" sz="4000" b="1" kern="100" dirty="0" err="1">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faible</a:t>
            </a:r>
            <a:endParaRPr lang="fr-FR" sz="40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buNone/>
            </a:pPr>
            <a:r>
              <a:rPr lang="en-US" sz="1800" kern="100" dirty="0" err="1">
                <a:effectLst/>
                <a:latin typeface="Consolas" panose="020B0609020204030204" pitchFamily="49" charset="0"/>
                <a:ea typeface="Calibri" panose="020F0502020204030204" pitchFamily="34" charset="0"/>
                <a:cs typeface="Arial" panose="020B0604020202020204" pitchFamily="34" charset="0"/>
              </a:rPr>
              <a:t>src</a:t>
            </a:r>
            <a:r>
              <a:rPr lang="en-US" sz="1800" kern="100" dirty="0">
                <a:effectLst/>
                <a:latin typeface="Consolas" panose="020B0609020204030204" pitchFamily="49" charset="0"/>
                <a:ea typeface="Calibri" panose="020F0502020204030204" pitchFamily="34" charset="0"/>
                <a:cs typeface="Arial" panose="020B0604020202020204" pitchFamily="34" charset="0"/>
              </a:rPr>
              <a:t>/db.js</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 </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err="1">
                <a:effectLst/>
                <a:latin typeface="Consolas" panose="020B0609020204030204" pitchFamily="49" charset="0"/>
                <a:ea typeface="Calibri" panose="020F0502020204030204" pitchFamily="34" charset="0"/>
                <a:cs typeface="Arial" panose="020B0604020202020204" pitchFamily="34" charset="0"/>
              </a:rPr>
              <a:t>crypto.createHash</a:t>
            </a:r>
            <a:r>
              <a:rPr lang="en-US" sz="1800" kern="100" dirty="0">
                <a:effectLst/>
                <a:latin typeface="Consolas" panose="020B0609020204030204" pitchFamily="49" charset="0"/>
                <a:ea typeface="Calibri" panose="020F0502020204030204" pitchFamily="34" charset="0"/>
                <a:cs typeface="Arial" panose="020B0604020202020204" pitchFamily="34" charset="0"/>
              </a:rPr>
              <a:t>('sha256')</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  </a:t>
            </a:r>
            <a:r>
              <a:rPr lang="fr-FR" sz="1800" kern="100" dirty="0">
                <a:effectLst/>
                <a:latin typeface="Consolas" panose="020B0609020204030204" pitchFamily="49" charset="0"/>
                <a:ea typeface="Calibri" panose="020F0502020204030204" pitchFamily="34" charset="0"/>
                <a:cs typeface="Arial" panose="020B0604020202020204" pitchFamily="34" charset="0"/>
              </a:rPr>
              <a:t>.update(</a:t>
            </a:r>
            <a:r>
              <a:rPr lang="fr-FR" sz="1800" kern="100" dirty="0" err="1">
                <a:effectLst/>
                <a:latin typeface="Consolas" panose="020B0609020204030204" pitchFamily="49" charset="0"/>
                <a:ea typeface="Calibri" panose="020F0502020204030204" pitchFamily="34" charset="0"/>
                <a:cs typeface="Arial" panose="020B0604020202020204" pitchFamily="34" charset="0"/>
              </a:rPr>
              <a:t>pwd</a:t>
            </a:r>
            <a:r>
              <a:rPr lang="fr-FR" sz="1800" kern="100" dirty="0">
                <a:effectLst/>
                <a:latin typeface="Consolas" panose="020B0609020204030204" pitchFamily="49" charset="0"/>
                <a:ea typeface="Calibri" panose="020F0502020204030204" pitchFamily="34" charset="0"/>
                <a:cs typeface="Arial" panose="020B0604020202020204" pitchFamily="34" charset="0"/>
              </a:rPr>
              <a:t>)</a:t>
            </a:r>
          </a:p>
          <a:p>
            <a:pPr>
              <a:lnSpc>
                <a:spcPct val="107000"/>
              </a:lnSpc>
              <a:buNone/>
            </a:pPr>
            <a:r>
              <a:rPr lang="fr-FR" sz="1800" kern="100" dirty="0">
                <a:effectLst/>
                <a:latin typeface="Consolas" panose="020B0609020204030204" pitchFamily="49" charset="0"/>
                <a:ea typeface="Calibri" panose="020F0502020204030204" pitchFamily="34" charset="0"/>
                <a:cs typeface="Arial" panose="020B0604020202020204" pitchFamily="34" charset="0"/>
              </a:rPr>
              <a:t>  .digest('</a:t>
            </a:r>
            <a:r>
              <a:rPr lang="fr-FR" sz="1800" kern="100" dirty="0" err="1">
                <a:effectLst/>
                <a:latin typeface="Consolas" panose="020B0609020204030204" pitchFamily="49" charset="0"/>
                <a:ea typeface="Calibri" panose="020F0502020204030204" pitchFamily="34" charset="0"/>
                <a:cs typeface="Arial" panose="020B0604020202020204" pitchFamily="34" charset="0"/>
              </a:rPr>
              <a:t>hex</a:t>
            </a:r>
            <a:r>
              <a:rPr lang="fr-FR" sz="1800" kern="100" dirty="0">
                <a:effectLst/>
                <a:latin typeface="Consolas" panose="020B0609020204030204" pitchFamily="49" charset="0"/>
                <a:ea typeface="Calibri" panose="020F0502020204030204" pitchFamily="34" charset="0"/>
                <a:cs typeface="Arial" panose="020B0604020202020204" pitchFamily="34" charset="0"/>
              </a:rPr>
              <a:t>');</a:t>
            </a:r>
          </a:p>
        </p:txBody>
      </p:sp>
    </p:spTree>
    <p:extLst>
      <p:ext uri="{BB962C8B-B14F-4D97-AF65-F5344CB8AC3E}">
        <p14:creationId xmlns:p14="http://schemas.microsoft.com/office/powerpoint/2010/main" val="2871556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520BD3A0-C419-775A-D5DE-6B7FCD627940}"/>
              </a:ext>
            </a:extLst>
          </p:cNvPr>
          <p:cNvSpPr txBox="1"/>
          <p:nvPr/>
        </p:nvSpPr>
        <p:spPr>
          <a:xfrm>
            <a:off x="712694" y="1278121"/>
            <a:ext cx="6094206" cy="4113498"/>
          </a:xfrm>
          <a:prstGeom prst="rect">
            <a:avLst/>
          </a:prstGeom>
          <a:noFill/>
        </p:spPr>
        <p:txBody>
          <a:bodyPr wrap="square">
            <a:spAutoFit/>
          </a:bodyPr>
          <a:lstStyle/>
          <a:p>
            <a:pPr>
              <a:lnSpc>
                <a:spcPct val="107000"/>
              </a:lnSpc>
              <a:spcBef>
                <a:spcPts val="800"/>
              </a:spcBef>
              <a:spcAft>
                <a:spcPts val="400"/>
              </a:spcAft>
              <a:buNone/>
            </a:pPr>
            <a:r>
              <a:rPr lang="fr-FR" sz="40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S4 — absence de contrôle d’objet</a:t>
            </a:r>
          </a:p>
          <a:p>
            <a:pPr>
              <a:lnSpc>
                <a:spcPct val="107000"/>
              </a:lnSpc>
              <a:buNone/>
            </a:pPr>
            <a:r>
              <a:rPr lang="en-US" sz="1800" kern="100" dirty="0" err="1">
                <a:effectLst/>
                <a:latin typeface="Consolas" panose="020B0609020204030204" pitchFamily="49" charset="0"/>
                <a:ea typeface="Calibri" panose="020F0502020204030204" pitchFamily="34" charset="0"/>
                <a:cs typeface="Arial" panose="020B0604020202020204" pitchFamily="34" charset="0"/>
              </a:rPr>
              <a:t>src</a:t>
            </a:r>
            <a:r>
              <a:rPr lang="en-US" sz="1800" kern="100" dirty="0">
                <a:effectLst/>
                <a:latin typeface="Consolas" panose="020B0609020204030204" pitchFamily="49" charset="0"/>
                <a:ea typeface="Calibri" panose="020F0502020204030204" pitchFamily="34" charset="0"/>
                <a:cs typeface="Arial" panose="020B0604020202020204" pitchFamily="34" charset="0"/>
              </a:rPr>
              <a:t>/routes/data.js</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 </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err="1">
                <a:effectLst/>
                <a:latin typeface="Consolas" panose="020B0609020204030204" pitchFamily="49" charset="0"/>
                <a:ea typeface="Calibri" panose="020F0502020204030204" pitchFamily="34" charset="0"/>
                <a:cs typeface="Arial" panose="020B0604020202020204" pitchFamily="34" charset="0"/>
              </a:rPr>
              <a:t>router.get</a:t>
            </a:r>
            <a:r>
              <a:rPr lang="en-US" sz="1800" kern="100" dirty="0">
                <a:effectLst/>
                <a:latin typeface="Consolas" panose="020B0609020204030204" pitchFamily="49" charset="0"/>
                <a:ea typeface="Calibri" panose="020F0502020204030204" pitchFamily="34" charset="0"/>
                <a:cs typeface="Arial" panose="020B0604020202020204" pitchFamily="34" charset="0"/>
              </a:rPr>
              <a:t>('/users/:id',</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  </a:t>
            </a:r>
            <a:r>
              <a:rPr lang="en-US" sz="1800" kern="100" dirty="0" err="1">
                <a:effectLst/>
                <a:latin typeface="Consolas" panose="020B0609020204030204" pitchFamily="49" charset="0"/>
                <a:ea typeface="Calibri" panose="020F0502020204030204" pitchFamily="34" charset="0"/>
                <a:cs typeface="Arial" panose="020B0604020202020204" pitchFamily="34" charset="0"/>
              </a:rPr>
              <a:t>requireAuth</a:t>
            </a:r>
            <a:r>
              <a:rPr lang="en-US" sz="1800" kern="100" dirty="0">
                <a:effectLst/>
                <a:latin typeface="Consolas" panose="020B0609020204030204" pitchFamily="49" charset="0"/>
                <a:ea typeface="Calibri" panose="020F0502020204030204" pitchFamily="34" charset="0"/>
                <a:cs typeface="Arial" panose="020B0604020202020204" pitchFamily="34" charset="0"/>
              </a:rPr>
              <a:t>, (req, res) =&gt; {</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    const u = </a:t>
            </a:r>
            <a:r>
              <a:rPr lang="en-US" sz="1800" kern="100" dirty="0" err="1">
                <a:effectLst/>
                <a:latin typeface="Consolas" panose="020B0609020204030204" pitchFamily="49" charset="0"/>
                <a:ea typeface="Calibri" panose="020F0502020204030204" pitchFamily="34" charset="0"/>
                <a:cs typeface="Arial" panose="020B0604020202020204" pitchFamily="34" charset="0"/>
              </a:rPr>
              <a:t>db.query</a:t>
            </a:r>
            <a:r>
              <a:rPr lang="en-US" sz="1800" kern="100" dirty="0">
                <a:effectLst/>
                <a:latin typeface="Consolas" panose="020B0609020204030204" pitchFamily="49" charset="0"/>
                <a:ea typeface="Calibri" panose="020F0502020204030204" pitchFamily="34" charset="0"/>
                <a:cs typeface="Arial" panose="020B0604020202020204" pitchFamily="34" charset="0"/>
              </a:rPr>
              <a:t>('users', ...)[0];</a:t>
            </a:r>
            <a:endParaRPr lang="fr-FR" sz="1800" kern="100" dirty="0">
              <a:effectLst/>
              <a:latin typeface="Consolas" panose="020B0609020204030204" pitchFamily="49" charset="0"/>
              <a:ea typeface="Calibri" panose="020F0502020204030204" pitchFamily="34" charset="0"/>
              <a:cs typeface="Arial" panose="020B0604020202020204" pitchFamily="34" charset="0"/>
            </a:endParaRPr>
          </a:p>
          <a:p>
            <a:pPr>
              <a:lnSpc>
                <a:spcPct val="107000"/>
              </a:lnSpc>
              <a:buNone/>
            </a:pPr>
            <a:r>
              <a:rPr lang="en-US" sz="1800" kern="100" dirty="0">
                <a:effectLst/>
                <a:latin typeface="Consolas" panose="020B0609020204030204" pitchFamily="49" charset="0"/>
                <a:ea typeface="Calibri" panose="020F0502020204030204" pitchFamily="34" charset="0"/>
                <a:cs typeface="Arial" panose="020B0604020202020204" pitchFamily="34" charset="0"/>
              </a:rPr>
              <a:t>    </a:t>
            </a:r>
            <a:r>
              <a:rPr lang="fr-FR" sz="1800" kern="100" dirty="0" err="1">
                <a:effectLst/>
                <a:latin typeface="Consolas" panose="020B0609020204030204" pitchFamily="49" charset="0"/>
                <a:ea typeface="Calibri" panose="020F0502020204030204" pitchFamily="34" charset="0"/>
                <a:cs typeface="Arial" panose="020B0604020202020204" pitchFamily="34" charset="0"/>
              </a:rPr>
              <a:t>const</a:t>
            </a:r>
            <a:r>
              <a:rPr lang="fr-FR" sz="1800" kern="100" dirty="0">
                <a:effectLst/>
                <a:latin typeface="Consolas" panose="020B0609020204030204" pitchFamily="49" charset="0"/>
                <a:ea typeface="Calibri" panose="020F0502020204030204" pitchFamily="34" charset="0"/>
                <a:cs typeface="Arial" panose="020B0604020202020204" pitchFamily="34" charset="0"/>
              </a:rPr>
              <a:t> questionnaires =</a:t>
            </a:r>
          </a:p>
          <a:p>
            <a:pPr>
              <a:lnSpc>
                <a:spcPct val="107000"/>
              </a:lnSpc>
              <a:buNone/>
            </a:pPr>
            <a:r>
              <a:rPr lang="fr-FR" sz="1800" kern="100" dirty="0">
                <a:effectLst/>
                <a:latin typeface="Consolas" panose="020B0609020204030204" pitchFamily="49" charset="0"/>
                <a:ea typeface="Calibri" panose="020F0502020204030204" pitchFamily="34" charset="0"/>
                <a:cs typeface="Arial" panose="020B0604020202020204" pitchFamily="34" charset="0"/>
              </a:rPr>
              <a:t>      </a:t>
            </a:r>
            <a:r>
              <a:rPr lang="fr-FR" sz="1800" kern="100" dirty="0" err="1">
                <a:effectLst/>
                <a:latin typeface="Consolas" panose="020B0609020204030204" pitchFamily="49" charset="0"/>
                <a:ea typeface="Calibri" panose="020F0502020204030204" pitchFamily="34" charset="0"/>
                <a:cs typeface="Arial" panose="020B0604020202020204" pitchFamily="34" charset="0"/>
              </a:rPr>
              <a:t>db.query</a:t>
            </a:r>
            <a:r>
              <a:rPr lang="fr-FR" sz="1800" kern="100" dirty="0">
                <a:effectLst/>
                <a:latin typeface="Consolas" panose="020B0609020204030204" pitchFamily="49" charset="0"/>
                <a:ea typeface="Calibri" panose="020F0502020204030204" pitchFamily="34" charset="0"/>
                <a:cs typeface="Arial" panose="020B0604020202020204" pitchFamily="34" charset="0"/>
              </a:rPr>
              <a:t>('questionnaires', ...);</a:t>
            </a:r>
          </a:p>
          <a:p>
            <a:pPr>
              <a:lnSpc>
                <a:spcPct val="107000"/>
              </a:lnSpc>
              <a:buNone/>
            </a:pPr>
            <a:r>
              <a:rPr lang="fr-FR" sz="1800" kern="100" dirty="0">
                <a:effectLst/>
                <a:latin typeface="Consolas" panose="020B0609020204030204" pitchFamily="49" charset="0"/>
                <a:ea typeface="Calibri" panose="020F0502020204030204" pitchFamily="34" charset="0"/>
                <a:cs typeface="Arial" panose="020B0604020202020204" pitchFamily="34" charset="0"/>
              </a:rPr>
              <a:t>    </a:t>
            </a:r>
            <a:r>
              <a:rPr lang="fr-FR" sz="1800" kern="100" dirty="0" err="1">
                <a:effectLst/>
                <a:latin typeface="Consolas" panose="020B0609020204030204" pitchFamily="49" charset="0"/>
                <a:ea typeface="Calibri" panose="020F0502020204030204" pitchFamily="34" charset="0"/>
                <a:cs typeface="Arial" panose="020B0604020202020204" pitchFamily="34" charset="0"/>
              </a:rPr>
              <a:t>res.json</a:t>
            </a:r>
            <a:r>
              <a:rPr lang="fr-FR" sz="1800" kern="100" dirty="0">
                <a:effectLst/>
                <a:latin typeface="Consolas" panose="020B0609020204030204" pitchFamily="49" charset="0"/>
                <a:ea typeface="Calibri" panose="020F0502020204030204" pitchFamily="34" charset="0"/>
                <a:cs typeface="Arial" panose="020B0604020202020204" pitchFamily="34" charset="0"/>
              </a:rPr>
              <a:t>({ ...u, questionnaires });</a:t>
            </a:r>
          </a:p>
          <a:p>
            <a:pPr>
              <a:lnSpc>
                <a:spcPct val="107000"/>
              </a:lnSpc>
              <a:buNone/>
            </a:pPr>
            <a:r>
              <a:rPr lang="fr-FR" sz="1800" kern="100" dirty="0">
                <a:effectLst/>
                <a:latin typeface="Consolas" panose="020B0609020204030204" pitchFamily="49" charset="0"/>
                <a:ea typeface="Calibri" panose="020F0502020204030204" pitchFamily="34" charset="0"/>
                <a:cs typeface="Arial" panose="020B0604020202020204" pitchFamily="34" charset="0"/>
              </a:rPr>
              <a:t>});</a:t>
            </a:r>
          </a:p>
        </p:txBody>
      </p:sp>
    </p:spTree>
    <p:extLst>
      <p:ext uri="{BB962C8B-B14F-4D97-AF65-F5344CB8AC3E}">
        <p14:creationId xmlns:p14="http://schemas.microsoft.com/office/powerpoint/2010/main" val="2361870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01E23-EA26-17D9-38BE-6F36BA8ACC29}"/>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D0028281-47BA-EB00-8F8B-6F20E2A81469}"/>
              </a:ext>
            </a:extLst>
          </p:cNvPr>
          <p:cNvSpPr txBox="1"/>
          <p:nvPr/>
        </p:nvSpPr>
        <p:spPr>
          <a:xfrm>
            <a:off x="333487" y="344245"/>
            <a:ext cx="11489167" cy="3402085"/>
          </a:xfrm>
          <a:prstGeom prst="rect">
            <a:avLst/>
          </a:prstGeom>
          <a:noFill/>
        </p:spPr>
        <p:txBody>
          <a:bodyPr wrap="square">
            <a:spAutoFit/>
          </a:bodyPr>
          <a:lstStyle/>
          <a:p>
            <a:pPr>
              <a:lnSpc>
                <a:spcPct val="107000"/>
              </a:lnSpc>
              <a:spcBef>
                <a:spcPts val="800"/>
              </a:spcBef>
              <a:spcAft>
                <a:spcPts val="400"/>
              </a:spcAft>
              <a:buNone/>
            </a:pPr>
            <a:r>
              <a:rPr lang="fr-FR" sz="36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B3. Lien sécurité / violation de données</a:t>
            </a:r>
          </a:p>
          <a:p>
            <a:pPr>
              <a:lnSpc>
                <a:spcPct val="107000"/>
              </a:lnSpc>
              <a:spcBef>
                <a:spcPts val="800"/>
              </a:spcBef>
              <a:spcAft>
                <a:spcPts val="400"/>
              </a:spcAft>
              <a:buNone/>
            </a:pPr>
            <a:endParaRPr lang="fr-FR" sz="3600" b="1" kern="100" dirty="0">
              <a:solidFill>
                <a:srgbClr val="8EAADB"/>
              </a:solidFill>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Bef>
                <a:spcPts val="800"/>
              </a:spcBef>
              <a:spcAft>
                <a:spcPts val="400"/>
              </a:spcAft>
              <a:buNone/>
            </a:pPr>
            <a:endParaRPr lang="fr-FR" sz="36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Arial" panose="020B0604020202020204" pitchFamily="34" charset="0"/>
              </a:rPr>
              <a:t>Hypothèse de fuite la plus crédible :</a:t>
            </a:r>
            <a:r>
              <a:rPr lang="fr-FR" sz="1800" kern="100" dirty="0">
                <a:effectLst/>
                <a:latin typeface="Calibri" panose="020F0502020204030204" pitchFamily="34" charset="0"/>
                <a:ea typeface="Calibri" panose="020F0502020204030204" pitchFamily="34" charset="0"/>
                <a:cs typeface="Arial" panose="020B0604020202020204" pitchFamily="34" charset="0"/>
              </a:rPr>
              <a:t> la combinaison de S5 (accès horizontal aux utilisateurs/questionnaires), S1 (mots de passe dans les logs) et S6 (filtre exécuté par new </a:t>
            </a:r>
            <a:r>
              <a:rPr lang="fr-FR" sz="1800" kern="100" dirty="0" err="1">
                <a:effectLst/>
                <a:latin typeface="Calibri" panose="020F0502020204030204" pitchFamily="34" charset="0"/>
                <a:ea typeface="Calibri" panose="020F0502020204030204" pitchFamily="34" charset="0"/>
                <a:cs typeface="Arial" panose="020B0604020202020204" pitchFamily="34" charset="0"/>
              </a:rPr>
              <a:t>Function</a:t>
            </a:r>
            <a:r>
              <a:rPr lang="fr-FR" sz="1800" kern="100" dirty="0">
                <a:effectLst/>
                <a:latin typeface="Calibri" panose="020F0502020204030204" pitchFamily="34" charset="0"/>
                <a:ea typeface="Calibri" panose="020F0502020204030204" pitchFamily="34" charset="0"/>
                <a:cs typeface="Arial" panose="020B0604020202020204" pitchFamily="34" charset="0"/>
              </a:rPr>
              <a:t>) offre plusieurs chemins permettant l’accès ou l’exfiltration de données. Le fichier signalé sur un forum doit être comparé aux artefacts présents dans </a:t>
            </a:r>
            <a:r>
              <a:rPr lang="fr-FR" sz="1800" kern="100" dirty="0" err="1">
                <a:effectLst/>
                <a:latin typeface="Calibri" panose="020F0502020204030204" pitchFamily="34" charset="0"/>
                <a:ea typeface="Calibri" panose="020F0502020204030204" pitchFamily="34" charset="0"/>
                <a:cs typeface="Arial" panose="020B0604020202020204" pitchFamily="34" charset="0"/>
              </a:rPr>
              <a:t>db</a:t>
            </a:r>
            <a:r>
              <a:rPr lang="fr-FR" sz="1800" kern="100" dirty="0">
                <a:effectLst/>
                <a:latin typeface="Calibri" panose="020F0502020204030204" pitchFamily="34" charset="0"/>
                <a:ea typeface="Calibri" panose="020F0502020204030204" pitchFamily="34" charset="0"/>
                <a:cs typeface="Arial" panose="020B0604020202020204" pitchFamily="34" charset="0"/>
              </a:rPr>
              <a:t>/</a:t>
            </a:r>
            <a:r>
              <a:rPr lang="fr-FR" sz="1800" kern="100" dirty="0" err="1">
                <a:effectLst/>
                <a:latin typeface="Calibri" panose="020F0502020204030204" pitchFamily="34" charset="0"/>
                <a:ea typeface="Calibri" panose="020F0502020204030204" pitchFamily="34" charset="0"/>
                <a:cs typeface="Arial" panose="020B0604020202020204" pitchFamily="34" charset="0"/>
              </a:rPr>
              <a:t>wellwork.json</a:t>
            </a:r>
            <a:r>
              <a:rPr lang="fr-FR" sz="1800" kern="100" dirty="0">
                <a:effectLst/>
                <a:latin typeface="Calibri" panose="020F0502020204030204" pitchFamily="34" charset="0"/>
                <a:ea typeface="Calibri" panose="020F0502020204030204" pitchFamily="34" charset="0"/>
                <a:cs typeface="Arial" panose="020B0604020202020204" pitchFamily="34" charset="0"/>
              </a:rPr>
              <a:t>, aux logs et aux journaux réseau avant d’attribuer formellement la cause.</a:t>
            </a:r>
          </a:p>
        </p:txBody>
      </p:sp>
    </p:spTree>
    <p:extLst>
      <p:ext uri="{BB962C8B-B14F-4D97-AF65-F5344CB8AC3E}">
        <p14:creationId xmlns:p14="http://schemas.microsoft.com/office/powerpoint/2010/main" val="98026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7B558-0561-BA23-68A5-B62D7F48FB79}"/>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C93CA2A3-7BE4-4435-5231-1E75C3DA82E8}"/>
              </a:ext>
            </a:extLst>
          </p:cNvPr>
          <p:cNvSpPr txBox="1"/>
          <p:nvPr/>
        </p:nvSpPr>
        <p:spPr>
          <a:xfrm>
            <a:off x="86061" y="0"/>
            <a:ext cx="11951746" cy="6143348"/>
          </a:xfrm>
          <a:prstGeom prst="rect">
            <a:avLst/>
          </a:prstGeom>
          <a:noFill/>
        </p:spPr>
        <p:txBody>
          <a:bodyPr wrap="square">
            <a:spAutoFit/>
          </a:bodyPr>
          <a:lstStyle/>
          <a:p>
            <a:pPr>
              <a:lnSpc>
                <a:spcPct val="107000"/>
              </a:lnSpc>
              <a:spcBef>
                <a:spcPts val="800"/>
              </a:spcBef>
              <a:spcAft>
                <a:spcPts val="400"/>
              </a:spcAft>
              <a:buNone/>
            </a:pPr>
            <a:r>
              <a:rPr lang="fr-FR" sz="36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B4. Violation de données — articles 33 et 34</a:t>
            </a:r>
          </a:p>
          <a:p>
            <a:pPr>
              <a:lnSpc>
                <a:spcPct val="107000"/>
              </a:lnSpc>
              <a:spcAft>
                <a:spcPts val="800"/>
              </a:spcAft>
              <a:buNone/>
            </a:pPr>
            <a:r>
              <a:rPr lang="fr-FR" sz="1800" kern="100" dirty="0">
                <a:effectLst/>
                <a:latin typeface="Calibri" panose="020F0502020204030204" pitchFamily="34" charset="0"/>
                <a:ea typeface="Calibri" panose="020F0502020204030204" pitchFamily="34" charset="0"/>
                <a:cs typeface="Arial" panose="020B0604020202020204" pitchFamily="34" charset="0"/>
              </a:rPr>
              <a:t>La présence d’un fichier contenant des données d’utilisateurs sur un forum constitue un </a:t>
            </a:r>
            <a:r>
              <a:rPr lang="fr-FR" sz="1800" b="1" kern="100" dirty="0">
                <a:effectLst/>
                <a:latin typeface="Calibri" panose="020F0502020204030204" pitchFamily="34" charset="0"/>
                <a:ea typeface="Calibri" panose="020F0502020204030204" pitchFamily="34" charset="0"/>
                <a:cs typeface="Arial" panose="020B0604020202020204" pitchFamily="34" charset="0"/>
              </a:rPr>
              <a:t>signal de violation de données personnelles</a:t>
            </a:r>
            <a:r>
              <a:rPr lang="fr-FR" sz="1800" kern="100" dirty="0">
                <a:effectLst/>
                <a:latin typeface="Calibri" panose="020F0502020204030204" pitchFamily="34" charset="0"/>
                <a:ea typeface="Calibri" panose="020F0502020204030204" pitchFamily="34" charset="0"/>
                <a:cs typeface="Arial" panose="020B0604020202020204" pitchFamily="34" charset="0"/>
              </a:rPr>
              <a:t> qui doit être qualifié immédiatement. Une notification à l’autorité de contrôle est requise lorsqu’il est probable que la violation présente un risque pour les droits et libertés, dans les meilleurs délais et si possible dans les 72 heures après en avoir pris connaissance. Si le risque est élevé, les personnes concernées doivent également être informées, sous réserve des exceptions prévues par le RGPD.</a:t>
            </a:r>
          </a:p>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Arial" panose="020B0604020202020204" pitchFamily="34" charset="0"/>
              </a:rPr>
              <a:t>Actions immédiates</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Font typeface="+mj-lt"/>
              <a:buAutoNum type="arabicPeriod"/>
              <a:tabLst>
                <a:tab pos="457200" algn="l"/>
              </a:tabLst>
            </a:pPr>
            <a:r>
              <a:rPr lang="fr-FR" sz="1800" kern="100" dirty="0">
                <a:effectLst/>
                <a:latin typeface="Calibri" panose="020F0502020204030204" pitchFamily="34" charset="0"/>
                <a:ea typeface="Calibri" panose="020F0502020204030204" pitchFamily="34" charset="0"/>
                <a:cs typeface="Arial" panose="020B0604020202020204" pitchFamily="34" charset="0"/>
              </a:rPr>
              <a:t>Geler et préserver les preuves.</a:t>
            </a:r>
          </a:p>
          <a:p>
            <a:pPr marL="342900" lvl="0" indent="-342900">
              <a:lnSpc>
                <a:spcPct val="107000"/>
              </a:lnSpc>
              <a:spcAft>
                <a:spcPts val="800"/>
              </a:spcAft>
              <a:buFont typeface="+mj-lt"/>
              <a:buAutoNum type="arabicPeriod"/>
              <a:tabLst>
                <a:tab pos="457200" algn="l"/>
              </a:tabLst>
            </a:pPr>
            <a:r>
              <a:rPr lang="fr-FR" sz="1800" kern="100" dirty="0">
                <a:effectLst/>
                <a:latin typeface="Calibri" panose="020F0502020204030204" pitchFamily="34" charset="0"/>
                <a:ea typeface="Calibri" panose="020F0502020204030204" pitchFamily="34" charset="0"/>
                <a:cs typeface="Arial" panose="020B0604020202020204" pitchFamily="34" charset="0"/>
              </a:rPr>
              <a:t>Identifier exactement le fichier, sa provenance et sa date de diffusion.</a:t>
            </a:r>
          </a:p>
          <a:p>
            <a:pPr marL="342900" lvl="0" indent="-342900">
              <a:lnSpc>
                <a:spcPct val="107000"/>
              </a:lnSpc>
              <a:spcAft>
                <a:spcPts val="800"/>
              </a:spcAft>
              <a:buFont typeface="+mj-lt"/>
              <a:buAutoNum type="arabicPeriod"/>
              <a:tabLst>
                <a:tab pos="457200" algn="l"/>
              </a:tabLst>
            </a:pPr>
            <a:r>
              <a:rPr lang="fr-FR" sz="1800" kern="100" dirty="0">
                <a:effectLst/>
                <a:latin typeface="Calibri" panose="020F0502020204030204" pitchFamily="34" charset="0"/>
                <a:ea typeface="Calibri" panose="020F0502020204030204" pitchFamily="34" charset="0"/>
                <a:cs typeface="Arial" panose="020B0604020202020204" pitchFamily="34" charset="0"/>
              </a:rPr>
              <a:t>Révoquer/</a:t>
            </a:r>
            <a:r>
              <a:rPr lang="fr-FR" sz="1800" kern="100" dirty="0" err="1">
                <a:effectLst/>
                <a:latin typeface="Calibri" panose="020F0502020204030204" pitchFamily="34" charset="0"/>
                <a:ea typeface="Calibri" panose="020F0502020204030204" pitchFamily="34" charset="0"/>
                <a:cs typeface="Arial" panose="020B0604020202020204" pitchFamily="34" charset="0"/>
              </a:rPr>
              <a:t>rotater</a:t>
            </a:r>
            <a:r>
              <a:rPr lang="fr-FR" sz="1800" kern="100" dirty="0">
                <a:effectLst/>
                <a:latin typeface="Calibri" panose="020F0502020204030204" pitchFamily="34" charset="0"/>
                <a:ea typeface="Calibri" panose="020F0502020204030204" pitchFamily="34" charset="0"/>
                <a:cs typeface="Arial" panose="020B0604020202020204" pitchFamily="34" charset="0"/>
              </a:rPr>
              <a:t> les secrets et sessions.</a:t>
            </a:r>
          </a:p>
          <a:p>
            <a:pPr marL="342900" lvl="0" indent="-342900">
              <a:lnSpc>
                <a:spcPct val="107000"/>
              </a:lnSpc>
              <a:spcAft>
                <a:spcPts val="800"/>
              </a:spcAft>
              <a:buFont typeface="+mj-lt"/>
              <a:buAutoNum type="arabicPeriod"/>
              <a:tabLst>
                <a:tab pos="457200" algn="l"/>
              </a:tabLst>
            </a:pPr>
            <a:r>
              <a:rPr lang="fr-FR" sz="1800" kern="100" dirty="0">
                <a:effectLst/>
                <a:latin typeface="Calibri" panose="020F0502020204030204" pitchFamily="34" charset="0"/>
                <a:ea typeface="Calibri" panose="020F0502020204030204" pitchFamily="34" charset="0"/>
                <a:cs typeface="Arial" panose="020B0604020202020204" pitchFamily="34" charset="0"/>
              </a:rPr>
              <a:t>Déterminer les personnes et catégories de données concernées.</a:t>
            </a:r>
          </a:p>
          <a:p>
            <a:pPr marL="342900" lvl="0" indent="-342900">
              <a:lnSpc>
                <a:spcPct val="107000"/>
              </a:lnSpc>
              <a:spcAft>
                <a:spcPts val="800"/>
              </a:spcAft>
              <a:buFont typeface="+mj-lt"/>
              <a:buAutoNum type="arabicPeriod"/>
              <a:tabLst>
                <a:tab pos="457200" algn="l"/>
              </a:tabLst>
            </a:pPr>
            <a:r>
              <a:rPr lang="fr-FR" sz="1800" kern="100" dirty="0">
                <a:effectLst/>
                <a:latin typeface="Calibri" panose="020F0502020204030204" pitchFamily="34" charset="0"/>
                <a:ea typeface="Calibri" panose="020F0502020204030204" pitchFamily="34" charset="0"/>
                <a:cs typeface="Arial" panose="020B0604020202020204" pitchFamily="34" charset="0"/>
              </a:rPr>
              <a:t>Évaluer le risque et documenter la décision.</a:t>
            </a:r>
          </a:p>
          <a:p>
            <a:pPr marL="342900" lvl="0" indent="-342900">
              <a:lnSpc>
                <a:spcPct val="107000"/>
              </a:lnSpc>
              <a:spcAft>
                <a:spcPts val="800"/>
              </a:spcAft>
              <a:buFont typeface="+mj-lt"/>
              <a:buAutoNum type="arabicPeriod"/>
              <a:tabLst>
                <a:tab pos="457200" algn="l"/>
              </a:tabLst>
            </a:pPr>
            <a:r>
              <a:rPr lang="fr-FR" sz="1800" kern="100" dirty="0">
                <a:effectLst/>
                <a:latin typeface="Calibri" panose="020F0502020204030204" pitchFamily="34" charset="0"/>
                <a:ea typeface="Calibri" panose="020F0502020204030204" pitchFamily="34" charset="0"/>
                <a:cs typeface="Arial" panose="020B0604020202020204" pitchFamily="34" charset="0"/>
              </a:rPr>
              <a:t>Notifier la CNIL si les critères de l’article 33 sont remplis.</a:t>
            </a:r>
          </a:p>
          <a:p>
            <a:pPr>
              <a:lnSpc>
                <a:spcPct val="107000"/>
              </a:lnSpc>
              <a:spcBef>
                <a:spcPts val="800"/>
              </a:spcBef>
              <a:spcAft>
                <a:spcPts val="400"/>
              </a:spcAft>
              <a:buNone/>
            </a:pPr>
            <a:r>
              <a:rPr lang="fr-FR" sz="1800" b="1" kern="100" dirty="0">
                <a:solidFill>
                  <a:srgbClr val="14213D"/>
                </a:solidFill>
                <a:effectLst/>
                <a:latin typeface="Calibri" panose="020F0502020204030204" pitchFamily="34" charset="0"/>
                <a:ea typeface="Times New Roman" panose="02020603050405020304" pitchFamily="18" charset="0"/>
                <a:cs typeface="Calibri" panose="020F0502020204030204" pitchFamily="34" charset="0"/>
              </a:rPr>
              <a:t>Critère de communication</a:t>
            </a:r>
            <a:endParaRPr lang="fr-FR" sz="32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buNone/>
            </a:pPr>
            <a:r>
              <a:rPr lang="fr-FR" sz="1800" kern="100" dirty="0">
                <a:effectLst/>
                <a:latin typeface="Calibri" panose="020F0502020204030204" pitchFamily="34" charset="0"/>
                <a:ea typeface="Calibri" panose="020F0502020204030204" pitchFamily="34" charset="0"/>
                <a:cs typeface="Arial" panose="020B0604020202020204" pitchFamily="34" charset="0"/>
              </a:rPr>
              <a:t>La présence de données de santé, identifiants et potentiellement mots de passe fait pencher l’analyse vers un </a:t>
            </a:r>
            <a:r>
              <a:rPr lang="fr-FR" sz="1800" b="1" kern="100" dirty="0">
                <a:effectLst/>
                <a:latin typeface="Calibri" panose="020F0502020204030204" pitchFamily="34" charset="0"/>
                <a:ea typeface="Calibri" panose="020F0502020204030204" pitchFamily="34" charset="0"/>
                <a:cs typeface="Arial" panose="020B0604020202020204" pitchFamily="34" charset="0"/>
              </a:rPr>
              <a:t>risque élevée</a:t>
            </a:r>
            <a:r>
              <a:rPr lang="fr-FR" sz="1800" kern="100" dirty="0">
                <a:effectLst/>
                <a:latin typeface="Calibri" panose="020F0502020204030204" pitchFamily="34" charset="0"/>
                <a:ea typeface="Calibri" panose="020F0502020204030204" pitchFamily="34" charset="0"/>
                <a:cs typeface="Arial" panose="020B0604020202020204" pitchFamily="34" charset="0"/>
              </a:rPr>
              <a:t>. La communication aux personnes est donc à préparer, sans attendre si l’équipe conclut à un risque élevé.</a:t>
            </a:r>
          </a:p>
        </p:txBody>
      </p:sp>
    </p:spTree>
    <p:extLst>
      <p:ext uri="{BB962C8B-B14F-4D97-AF65-F5344CB8AC3E}">
        <p14:creationId xmlns:p14="http://schemas.microsoft.com/office/powerpoint/2010/main" val="1944540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8C1CE-F98A-26B5-14CD-70BCBDF8A371}"/>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0D977D1A-1DE7-B75E-A142-0DB2394E26F5}"/>
              </a:ext>
            </a:extLst>
          </p:cNvPr>
          <p:cNvSpPr txBox="1"/>
          <p:nvPr/>
        </p:nvSpPr>
        <p:spPr>
          <a:xfrm>
            <a:off x="153296" y="99457"/>
            <a:ext cx="12038703" cy="5465086"/>
          </a:xfrm>
          <a:prstGeom prst="rect">
            <a:avLst/>
          </a:prstGeom>
          <a:noFill/>
        </p:spPr>
        <p:txBody>
          <a:bodyPr wrap="square">
            <a:spAutoFit/>
          </a:bodyPr>
          <a:lstStyle/>
          <a:p>
            <a:pPr>
              <a:lnSpc>
                <a:spcPct val="107000"/>
              </a:lnSpc>
              <a:spcBef>
                <a:spcPts val="800"/>
              </a:spcBef>
              <a:spcAft>
                <a:spcPts val="400"/>
              </a:spcAft>
              <a:buNone/>
            </a:pPr>
            <a:r>
              <a:rPr lang="fr-FR" sz="36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B5. Notification à la CNIL</a:t>
            </a:r>
          </a:p>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Arial" panose="020B0604020202020204" pitchFamily="34" charset="0"/>
              </a:rPr>
              <a:t>Objet :</a:t>
            </a:r>
            <a:r>
              <a:rPr lang="fr-FR" sz="1800" kern="100" dirty="0">
                <a:effectLst/>
                <a:latin typeface="Calibri" panose="020F0502020204030204" pitchFamily="34" charset="0"/>
                <a:ea typeface="Calibri" panose="020F0502020204030204" pitchFamily="34" charset="0"/>
                <a:cs typeface="Arial" panose="020B0604020202020204" pitchFamily="34" charset="0"/>
              </a:rPr>
              <a:t> Notification de violation de données personnelles — </a:t>
            </a:r>
            <a:r>
              <a:rPr lang="fr-FR" sz="1800" kern="100" dirty="0" err="1">
                <a:effectLst/>
                <a:latin typeface="Calibri" panose="020F0502020204030204" pitchFamily="34" charset="0"/>
                <a:ea typeface="Calibri" panose="020F0502020204030204" pitchFamily="34" charset="0"/>
                <a:cs typeface="Arial" panose="020B0604020202020204" pitchFamily="34" charset="0"/>
              </a:rPr>
              <a:t>WellWork</a:t>
            </a:r>
            <a:br>
              <a:rPr lang="fr-FR" sz="1800" kern="100" dirty="0">
                <a:effectLst/>
                <a:latin typeface="Calibri" panose="020F0502020204030204" pitchFamily="34" charset="0"/>
                <a:ea typeface="Calibri" panose="020F0502020204030204" pitchFamily="34" charset="0"/>
                <a:cs typeface="Arial" panose="020B0604020202020204" pitchFamily="34" charset="0"/>
              </a:rPr>
            </a:br>
            <a:r>
              <a:rPr lang="fr-FR" sz="1800" b="1" kern="100" dirty="0">
                <a:effectLst/>
                <a:latin typeface="Calibri" panose="020F0502020204030204" pitchFamily="34" charset="0"/>
                <a:ea typeface="Calibri" panose="020F0502020204030204" pitchFamily="34" charset="0"/>
                <a:cs typeface="Arial" panose="020B0604020202020204" pitchFamily="34" charset="0"/>
              </a:rPr>
              <a:t>Responsable :</a:t>
            </a:r>
            <a:r>
              <a:rPr lang="fr-FR" sz="1800" kern="100" dirty="0">
                <a:effectLst/>
                <a:latin typeface="Calibri" panose="020F0502020204030204" pitchFamily="34" charset="0"/>
                <a:ea typeface="Calibri" panose="020F0502020204030204" pitchFamily="34" charset="0"/>
                <a:cs typeface="Arial" panose="020B0604020202020204" pitchFamily="34" charset="0"/>
              </a:rPr>
              <a:t> [entité juridique / coordonnées DPO]</a:t>
            </a:r>
            <a:br>
              <a:rPr lang="fr-FR" sz="1800" kern="100" dirty="0">
                <a:effectLst/>
                <a:latin typeface="Calibri" panose="020F0502020204030204" pitchFamily="34" charset="0"/>
                <a:ea typeface="Calibri" panose="020F0502020204030204" pitchFamily="34" charset="0"/>
                <a:cs typeface="Arial" panose="020B0604020202020204" pitchFamily="34" charset="0"/>
              </a:rPr>
            </a:br>
            <a:r>
              <a:rPr lang="fr-FR" sz="1800" b="1" kern="100" dirty="0">
                <a:effectLst/>
                <a:latin typeface="Calibri" panose="020F0502020204030204" pitchFamily="34" charset="0"/>
                <a:ea typeface="Calibri" panose="020F0502020204030204" pitchFamily="34" charset="0"/>
                <a:cs typeface="Arial" panose="020B0604020202020204" pitchFamily="34" charset="0"/>
              </a:rPr>
              <a:t>Date et heure de détection :</a:t>
            </a:r>
            <a:r>
              <a:rPr lang="fr-FR" sz="1800" kern="100" dirty="0">
                <a:effectLst/>
                <a:latin typeface="Calibri" panose="020F0502020204030204" pitchFamily="34" charset="0"/>
                <a:ea typeface="Calibri" panose="020F0502020204030204" pitchFamily="34" charset="0"/>
                <a:cs typeface="Arial" panose="020B0604020202020204" pitchFamily="34" charset="0"/>
              </a:rPr>
              <a:t> [à compléter]</a:t>
            </a:r>
            <a:br>
              <a:rPr lang="fr-FR" sz="1800" kern="100" dirty="0">
                <a:effectLst/>
                <a:latin typeface="Calibri" panose="020F0502020204030204" pitchFamily="34" charset="0"/>
                <a:ea typeface="Calibri" panose="020F0502020204030204" pitchFamily="34" charset="0"/>
                <a:cs typeface="Arial" panose="020B0604020202020204" pitchFamily="34" charset="0"/>
              </a:rPr>
            </a:br>
            <a:r>
              <a:rPr lang="fr-FR" sz="1800" b="1" kern="100" dirty="0">
                <a:effectLst/>
                <a:latin typeface="Calibri" panose="020F0502020204030204" pitchFamily="34" charset="0"/>
                <a:ea typeface="Calibri" panose="020F0502020204030204" pitchFamily="34" charset="0"/>
                <a:cs typeface="Arial" panose="020B0604020202020204" pitchFamily="34" charset="0"/>
              </a:rPr>
              <a:t>Date/heure estimée de la violation :</a:t>
            </a:r>
            <a:r>
              <a:rPr lang="fr-FR" sz="1800" kern="100" dirty="0">
                <a:effectLst/>
                <a:latin typeface="Calibri" panose="020F0502020204030204" pitchFamily="34" charset="0"/>
                <a:ea typeface="Calibri" panose="020F0502020204030204" pitchFamily="34" charset="0"/>
                <a:cs typeface="Arial" panose="020B0604020202020204" pitchFamily="34" charset="0"/>
              </a:rPr>
              <a:t> [à compléter]</a:t>
            </a:r>
            <a:br>
              <a:rPr lang="fr-FR" sz="1800" kern="100" dirty="0">
                <a:effectLst/>
                <a:latin typeface="Calibri" panose="020F0502020204030204" pitchFamily="34" charset="0"/>
                <a:ea typeface="Calibri" panose="020F0502020204030204" pitchFamily="34" charset="0"/>
                <a:cs typeface="Arial" panose="020B0604020202020204" pitchFamily="34" charset="0"/>
              </a:rPr>
            </a:br>
            <a:r>
              <a:rPr lang="fr-FR" sz="1800" b="1" kern="100" dirty="0">
                <a:effectLst/>
                <a:latin typeface="Calibri" panose="020F0502020204030204" pitchFamily="34" charset="0"/>
                <a:ea typeface="Calibri" panose="020F0502020204030204" pitchFamily="34" charset="0"/>
                <a:cs typeface="Arial" panose="020B0604020202020204" pitchFamily="34" charset="0"/>
              </a:rPr>
              <a:t>Nature :</a:t>
            </a:r>
            <a:r>
              <a:rPr lang="fr-FR" sz="1800" kern="100" dirty="0">
                <a:effectLst/>
                <a:latin typeface="Calibri" panose="020F0502020204030204" pitchFamily="34" charset="0"/>
                <a:ea typeface="Calibri" panose="020F0502020204030204" pitchFamily="34" charset="0"/>
                <a:cs typeface="Arial" panose="020B0604020202020204" pitchFamily="34" charset="0"/>
              </a:rPr>
              <a:t> divulgation/exfiltration non autorisée de données d’utilisateurs.</a:t>
            </a:r>
            <a:br>
              <a:rPr lang="fr-FR" sz="1800" kern="100" dirty="0">
                <a:effectLst/>
                <a:latin typeface="Calibri" panose="020F0502020204030204" pitchFamily="34" charset="0"/>
                <a:ea typeface="Calibri" panose="020F0502020204030204" pitchFamily="34" charset="0"/>
                <a:cs typeface="Arial" panose="020B0604020202020204" pitchFamily="34" charset="0"/>
              </a:rPr>
            </a:br>
            <a:r>
              <a:rPr lang="fr-FR" sz="1800" b="1" kern="100" dirty="0">
                <a:effectLst/>
                <a:latin typeface="Calibri" panose="020F0502020204030204" pitchFamily="34" charset="0"/>
                <a:ea typeface="Calibri" panose="020F0502020204030204" pitchFamily="34" charset="0"/>
                <a:cs typeface="Arial" panose="020B0604020202020204" pitchFamily="34" charset="0"/>
              </a:rPr>
              <a:t>Données concernées :</a:t>
            </a:r>
            <a:r>
              <a:rPr lang="fr-FR" sz="1800" kern="100" dirty="0">
                <a:effectLst/>
                <a:latin typeface="Calibri" panose="020F0502020204030204" pitchFamily="34" charset="0"/>
                <a:ea typeface="Calibri" panose="020F0502020204030204" pitchFamily="34" charset="0"/>
                <a:cs typeface="Arial" panose="020B0604020202020204" pitchFamily="34" charset="0"/>
              </a:rPr>
              <a:t> données d’identité et de compte ; potentiellement données de santé issues des questionnaires ; autres catégories à confirmer par l’analyse forensique.</a:t>
            </a:r>
            <a:br>
              <a:rPr lang="fr-FR" sz="1800" kern="100" dirty="0">
                <a:effectLst/>
                <a:latin typeface="Calibri" panose="020F0502020204030204" pitchFamily="34" charset="0"/>
                <a:ea typeface="Calibri" panose="020F0502020204030204" pitchFamily="34" charset="0"/>
                <a:cs typeface="Arial" panose="020B0604020202020204" pitchFamily="34" charset="0"/>
              </a:rPr>
            </a:br>
            <a:r>
              <a:rPr lang="fr-FR" sz="1800" b="1" kern="100" dirty="0">
                <a:effectLst/>
                <a:latin typeface="Calibri" panose="020F0502020204030204" pitchFamily="34" charset="0"/>
                <a:ea typeface="Calibri" panose="020F0502020204030204" pitchFamily="34" charset="0"/>
                <a:cs typeface="Arial" panose="020B0604020202020204" pitchFamily="34" charset="0"/>
              </a:rPr>
              <a:t>Nombre de personnes :</a:t>
            </a:r>
            <a:r>
              <a:rPr lang="fr-FR" sz="1800" kern="100" dirty="0">
                <a:effectLst/>
                <a:latin typeface="Calibri" panose="020F0502020204030204" pitchFamily="34" charset="0"/>
                <a:ea typeface="Calibri" panose="020F0502020204030204" pitchFamily="34" charset="0"/>
                <a:cs typeface="Arial" panose="020B0604020202020204" pitchFamily="34" charset="0"/>
              </a:rPr>
              <a:t> [à confirmer à partir du fichier diffusé et de la base].</a:t>
            </a:r>
            <a:br>
              <a:rPr lang="fr-FR" sz="1800" kern="100" dirty="0">
                <a:effectLst/>
                <a:latin typeface="Calibri" panose="020F0502020204030204" pitchFamily="34" charset="0"/>
                <a:ea typeface="Calibri" panose="020F0502020204030204" pitchFamily="34" charset="0"/>
                <a:cs typeface="Arial" panose="020B0604020202020204" pitchFamily="34" charset="0"/>
              </a:rPr>
            </a:br>
            <a:r>
              <a:rPr lang="fr-FR" sz="1800" b="1" kern="100" dirty="0">
                <a:effectLst/>
                <a:latin typeface="Calibri" panose="020F0502020204030204" pitchFamily="34" charset="0"/>
                <a:ea typeface="Calibri" panose="020F0502020204030204" pitchFamily="34" charset="0"/>
                <a:cs typeface="Arial" panose="020B0604020202020204" pitchFamily="34" charset="0"/>
              </a:rPr>
              <a:t>Origine suspectée :</a:t>
            </a:r>
            <a:r>
              <a:rPr lang="fr-FR" sz="1800" kern="100" dirty="0">
                <a:effectLst/>
                <a:latin typeface="Calibri" panose="020F0502020204030204" pitchFamily="34" charset="0"/>
                <a:ea typeface="Calibri" panose="020F0502020204030204" pitchFamily="34" charset="0"/>
                <a:cs typeface="Arial" panose="020B0604020202020204" pitchFamily="34" charset="0"/>
              </a:rPr>
              <a:t> plusieurs vulnérabilités présentes dans l’application, notamment contrôle d’accès insuffisant, journalisation de secrets et exécution de filtres fournis par l’utilisateur.</a:t>
            </a:r>
            <a:br>
              <a:rPr lang="fr-FR" sz="1800" kern="100" dirty="0">
                <a:effectLst/>
                <a:latin typeface="Calibri" panose="020F0502020204030204" pitchFamily="34" charset="0"/>
                <a:ea typeface="Calibri" panose="020F0502020204030204" pitchFamily="34" charset="0"/>
                <a:cs typeface="Arial" panose="020B0604020202020204" pitchFamily="34" charset="0"/>
              </a:rPr>
            </a:br>
            <a:r>
              <a:rPr lang="fr-FR" sz="1800" b="1" kern="100" dirty="0">
                <a:effectLst/>
                <a:latin typeface="Calibri" panose="020F0502020204030204" pitchFamily="34" charset="0"/>
                <a:ea typeface="Calibri" panose="020F0502020204030204" pitchFamily="34" charset="0"/>
                <a:cs typeface="Arial" panose="020B0604020202020204" pitchFamily="34" charset="0"/>
              </a:rPr>
              <a:t>Conséquences :</a:t>
            </a:r>
            <a:r>
              <a:rPr lang="fr-FR" sz="1800" kern="100" dirty="0">
                <a:effectLst/>
                <a:latin typeface="Calibri" panose="020F0502020204030204" pitchFamily="34" charset="0"/>
                <a:ea typeface="Calibri" panose="020F0502020204030204" pitchFamily="34" charset="0"/>
                <a:cs typeface="Arial" panose="020B0604020202020204" pitchFamily="34" charset="0"/>
              </a:rPr>
              <a:t> accès ou divulgation non autorisés, risque de compromission de comptes et atteinte à la confidentialité des données de santé.</a:t>
            </a:r>
            <a:br>
              <a:rPr lang="fr-FR" sz="1800" kern="100" dirty="0">
                <a:effectLst/>
                <a:latin typeface="Calibri" panose="020F0502020204030204" pitchFamily="34" charset="0"/>
                <a:ea typeface="Calibri" panose="020F0502020204030204" pitchFamily="34" charset="0"/>
                <a:cs typeface="Arial" panose="020B0604020202020204" pitchFamily="34" charset="0"/>
              </a:rPr>
            </a:br>
            <a:r>
              <a:rPr lang="fr-FR" sz="1800" b="1" kern="100" dirty="0">
                <a:effectLst/>
                <a:latin typeface="Calibri" panose="020F0502020204030204" pitchFamily="34" charset="0"/>
                <a:ea typeface="Calibri" panose="020F0502020204030204" pitchFamily="34" charset="0"/>
                <a:cs typeface="Arial" panose="020B0604020202020204" pitchFamily="34" charset="0"/>
              </a:rPr>
              <a:t>Mesures :</a:t>
            </a:r>
            <a:r>
              <a:rPr lang="fr-FR" sz="1800" kern="100" dirty="0">
                <a:effectLst/>
                <a:latin typeface="Calibri" panose="020F0502020204030204" pitchFamily="34" charset="0"/>
                <a:ea typeface="Calibri" panose="020F0502020204030204" pitchFamily="34" charset="0"/>
                <a:cs typeface="Arial" panose="020B0604020202020204" pitchFamily="34" charset="0"/>
              </a:rPr>
              <a:t> désactivation des accès à risque, rotation des secrets, restriction des routes sensibles, conservation des preuves, correction du code, revue des habilitations et analyse des journaux.</a:t>
            </a:r>
            <a:br>
              <a:rPr lang="fr-FR" sz="1800" kern="100" dirty="0">
                <a:effectLst/>
                <a:latin typeface="Calibri" panose="020F0502020204030204" pitchFamily="34" charset="0"/>
                <a:ea typeface="Calibri" panose="020F0502020204030204" pitchFamily="34" charset="0"/>
                <a:cs typeface="Arial" panose="020B0604020202020204" pitchFamily="34" charset="0"/>
              </a:rPr>
            </a:br>
            <a:r>
              <a:rPr lang="fr-FR" sz="1800" b="1" kern="100" dirty="0">
                <a:effectLst/>
                <a:latin typeface="Calibri" panose="020F0502020204030204" pitchFamily="34" charset="0"/>
                <a:ea typeface="Calibri" panose="020F0502020204030204" pitchFamily="34" charset="0"/>
                <a:cs typeface="Arial" panose="020B0604020202020204" pitchFamily="34" charset="0"/>
              </a:rPr>
              <a:t>Mesures prévues :</a:t>
            </a:r>
            <a:r>
              <a:rPr lang="fr-FR" sz="1800" kern="100" dirty="0">
                <a:effectLst/>
                <a:latin typeface="Calibri" panose="020F0502020204030204" pitchFamily="34" charset="0"/>
                <a:ea typeface="Calibri" panose="020F0502020204030204" pitchFamily="34" charset="0"/>
                <a:cs typeface="Arial" panose="020B0604020202020204" pitchFamily="34" charset="0"/>
              </a:rPr>
              <a:t> authentification robuste, contrôle d’accès objet, gestion centralisée des secrets, minimisation des exports, politique de conservation et tests de sécurité.</a:t>
            </a:r>
          </a:p>
        </p:txBody>
      </p:sp>
    </p:spTree>
    <p:extLst>
      <p:ext uri="{BB962C8B-B14F-4D97-AF65-F5344CB8AC3E}">
        <p14:creationId xmlns:p14="http://schemas.microsoft.com/office/powerpoint/2010/main" val="3765104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65B19-123B-D39B-D985-2BA5D94985EF}"/>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9565104F-4A45-5964-FF96-1E1C34C6699D}"/>
              </a:ext>
            </a:extLst>
          </p:cNvPr>
          <p:cNvSpPr txBox="1"/>
          <p:nvPr/>
        </p:nvSpPr>
        <p:spPr>
          <a:xfrm>
            <a:off x="172121" y="130329"/>
            <a:ext cx="12102353" cy="5026312"/>
          </a:xfrm>
          <a:prstGeom prst="rect">
            <a:avLst/>
          </a:prstGeom>
          <a:noFill/>
        </p:spPr>
        <p:txBody>
          <a:bodyPr wrap="square">
            <a:spAutoFit/>
          </a:bodyPr>
          <a:lstStyle/>
          <a:p>
            <a:pPr>
              <a:lnSpc>
                <a:spcPct val="107000"/>
              </a:lnSpc>
              <a:spcBef>
                <a:spcPts val="800"/>
              </a:spcBef>
              <a:spcAft>
                <a:spcPts val="400"/>
              </a:spcAft>
              <a:buNone/>
            </a:pPr>
            <a:r>
              <a:rPr lang="fr-FR" sz="36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B6. Message aux personnes concernées</a:t>
            </a:r>
          </a:p>
          <a:p>
            <a:pPr>
              <a:lnSpc>
                <a:spcPct val="107000"/>
              </a:lnSpc>
              <a:spcBef>
                <a:spcPts val="800"/>
              </a:spcBef>
              <a:spcAft>
                <a:spcPts val="400"/>
              </a:spcAft>
              <a:buNone/>
            </a:pPr>
            <a:endParaRPr lang="fr-FR" sz="36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Arial" panose="020B0604020202020204" pitchFamily="34" charset="0"/>
              </a:rPr>
              <a:t>Objet : Information importante concernant la sécurité de vos données </a:t>
            </a:r>
            <a:r>
              <a:rPr lang="fr-FR" sz="1800" b="1" kern="100" dirty="0" err="1">
                <a:effectLst/>
                <a:latin typeface="Calibri" panose="020F0502020204030204" pitchFamily="34" charset="0"/>
                <a:ea typeface="Calibri" panose="020F0502020204030204" pitchFamily="34" charset="0"/>
                <a:cs typeface="Arial" panose="020B0604020202020204" pitchFamily="34" charset="0"/>
              </a:rPr>
              <a:t>WellWork</a:t>
            </a:r>
            <a:br>
              <a:rPr lang="fr-FR" sz="1800" kern="100" dirty="0">
                <a:effectLst/>
                <a:latin typeface="Calibri" panose="020F0502020204030204" pitchFamily="34" charset="0"/>
                <a:ea typeface="Calibri" panose="020F0502020204030204" pitchFamily="34" charset="0"/>
                <a:cs typeface="Arial" panose="020B0604020202020204" pitchFamily="34" charset="0"/>
              </a:rPr>
            </a:br>
            <a:br>
              <a:rPr lang="fr-FR" sz="1800" kern="100" dirty="0">
                <a:effectLst/>
                <a:latin typeface="Calibri" panose="020F0502020204030204" pitchFamily="34" charset="0"/>
                <a:ea typeface="Calibri" panose="020F0502020204030204" pitchFamily="34" charset="0"/>
                <a:cs typeface="Arial" panose="020B0604020202020204" pitchFamily="34" charset="0"/>
              </a:rPr>
            </a:br>
            <a:r>
              <a:rPr lang="fr-FR" sz="1800" kern="100" dirty="0">
                <a:effectLst/>
                <a:latin typeface="Calibri" panose="020F0502020204030204" pitchFamily="34" charset="0"/>
                <a:ea typeface="Calibri" panose="020F0502020204030204" pitchFamily="34" charset="0"/>
                <a:cs typeface="Arial" panose="020B0604020202020204" pitchFamily="34" charset="0"/>
              </a:rPr>
              <a:t>Nous vous informons qu’un incident de sécurité a affecté des données associées à votre compte </a:t>
            </a:r>
            <a:r>
              <a:rPr lang="fr-FR" sz="1800" kern="100" dirty="0" err="1">
                <a:effectLst/>
                <a:latin typeface="Calibri" panose="020F0502020204030204" pitchFamily="34" charset="0"/>
                <a:ea typeface="Calibri" panose="020F0502020204030204" pitchFamily="34" charset="0"/>
                <a:cs typeface="Arial" panose="020B0604020202020204" pitchFamily="34" charset="0"/>
              </a:rPr>
              <a:t>WellWork</a:t>
            </a:r>
            <a:r>
              <a:rPr lang="fr-FR" sz="1800" kern="100" dirty="0">
                <a:effectLst/>
                <a:latin typeface="Calibri" panose="020F0502020204030204" pitchFamily="34" charset="0"/>
                <a:ea typeface="Calibri" panose="020F0502020204030204" pitchFamily="34" charset="0"/>
                <a:cs typeface="Arial" panose="020B0604020202020204" pitchFamily="34" charset="0"/>
              </a:rPr>
              <a:t>. Notre analyse indique qu’un fichier contenant des données d’utilisateurs a été diffusé sur un espace public. Les catégories de données potentiellement concernées sont [à compléter précisément].</a:t>
            </a:r>
            <a:br>
              <a:rPr lang="fr-FR" sz="1800" kern="100" dirty="0">
                <a:effectLst/>
                <a:latin typeface="Calibri" panose="020F0502020204030204" pitchFamily="34" charset="0"/>
                <a:ea typeface="Calibri" panose="020F0502020204030204" pitchFamily="34" charset="0"/>
                <a:cs typeface="Arial" panose="020B0604020202020204" pitchFamily="34" charset="0"/>
              </a:rPr>
            </a:br>
            <a:br>
              <a:rPr lang="fr-FR" sz="1800" kern="100" dirty="0">
                <a:effectLst/>
                <a:latin typeface="Calibri" panose="020F0502020204030204" pitchFamily="34" charset="0"/>
                <a:ea typeface="Calibri" panose="020F0502020204030204" pitchFamily="34" charset="0"/>
                <a:cs typeface="Arial" panose="020B0604020202020204" pitchFamily="34" charset="0"/>
              </a:rPr>
            </a:br>
            <a:r>
              <a:rPr lang="fr-FR" sz="1800" kern="100" dirty="0">
                <a:effectLst/>
                <a:latin typeface="Calibri" panose="020F0502020204030204" pitchFamily="34" charset="0"/>
                <a:ea typeface="Calibri" panose="020F0502020204030204" pitchFamily="34" charset="0"/>
                <a:cs typeface="Arial" panose="020B0604020202020204" pitchFamily="34" charset="0"/>
              </a:rPr>
              <a:t>Dès la détection, nous avons engagé une investigation, sécurisé les accès concernés, renouvelé les secrets techniques et renforcé les contrôles d’accès. Si votre mot de passe peut être concerné, nous vous demandons de le modifier immédiatement et de ne pas réutiliser un mot de passe utilisé sur un autre service.</a:t>
            </a:r>
            <a:br>
              <a:rPr lang="fr-FR" sz="1800" kern="100" dirty="0">
                <a:effectLst/>
                <a:latin typeface="Calibri" panose="020F0502020204030204" pitchFamily="34" charset="0"/>
                <a:ea typeface="Calibri" panose="020F0502020204030204" pitchFamily="34" charset="0"/>
                <a:cs typeface="Arial" panose="020B0604020202020204" pitchFamily="34" charset="0"/>
              </a:rPr>
            </a:br>
            <a:br>
              <a:rPr lang="fr-FR" sz="1800" kern="100" dirty="0">
                <a:effectLst/>
                <a:latin typeface="Calibri" panose="020F0502020204030204" pitchFamily="34" charset="0"/>
                <a:ea typeface="Calibri" panose="020F0502020204030204" pitchFamily="34" charset="0"/>
                <a:cs typeface="Arial" panose="020B0604020202020204" pitchFamily="34" charset="0"/>
              </a:rPr>
            </a:br>
            <a:r>
              <a:rPr lang="fr-FR" sz="1800" kern="100" dirty="0">
                <a:effectLst/>
                <a:latin typeface="Calibri" panose="020F0502020204030204" pitchFamily="34" charset="0"/>
                <a:ea typeface="Calibri" panose="020F0502020204030204" pitchFamily="34" charset="0"/>
                <a:cs typeface="Arial" panose="020B0604020202020204" pitchFamily="34" charset="0"/>
              </a:rPr>
              <a:t>Nous vous indiquons également les mesures de protection que nous recommandons et les coordonnées de notre DPO pour toute question ou exercice de vos droits : [coordonnées].</a:t>
            </a:r>
          </a:p>
        </p:txBody>
      </p:sp>
    </p:spTree>
    <p:extLst>
      <p:ext uri="{BB962C8B-B14F-4D97-AF65-F5344CB8AC3E}">
        <p14:creationId xmlns:p14="http://schemas.microsoft.com/office/powerpoint/2010/main" val="3445949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FE87B-EBAE-3943-D57D-4DB6031686F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2170BF4-CDF1-C779-5BC2-98154B5E24C1}"/>
              </a:ext>
            </a:extLst>
          </p:cNvPr>
          <p:cNvSpPr/>
          <p:nvPr/>
        </p:nvSpPr>
        <p:spPr>
          <a:xfrm>
            <a:off x="8732520" y="0"/>
            <a:ext cx="3474720" cy="6858000"/>
          </a:xfrm>
          <a:prstGeom prst="rect">
            <a:avLst/>
          </a:prstGeom>
          <a:solidFill>
            <a:srgbClr val="237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7D2F98F1-BAE0-D803-4115-8F890634F9B7}"/>
              </a:ext>
            </a:extLst>
          </p:cNvPr>
          <p:cNvSpPr/>
          <p:nvPr/>
        </p:nvSpPr>
        <p:spPr>
          <a:xfrm>
            <a:off x="9601200" y="0"/>
            <a:ext cx="2587752" cy="6858000"/>
          </a:xfrm>
          <a:prstGeom prst="rect">
            <a:avLst/>
          </a:prstGeom>
          <a:solidFill>
            <a:srgbClr val="1F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0D389646-0AE9-D89B-E046-48E1F8E5A21B}"/>
              </a:ext>
            </a:extLst>
          </p:cNvPr>
          <p:cNvSpPr txBox="1"/>
          <p:nvPr/>
        </p:nvSpPr>
        <p:spPr>
          <a:xfrm>
            <a:off x="868680" y="2606040"/>
            <a:ext cx="6949440" cy="685800"/>
          </a:xfrm>
          <a:prstGeom prst="rect">
            <a:avLst/>
          </a:prstGeom>
          <a:noFill/>
        </p:spPr>
        <p:txBody>
          <a:bodyPr wrap="square" lIns="36576" tIns="18288" rIns="36576" bIns="18288">
            <a:spAutoFit/>
          </a:bodyPr>
          <a:lstStyle/>
          <a:p>
            <a:pPr>
              <a:defRPr sz="2900" b="0">
                <a:solidFill>
                  <a:srgbClr val="FFFFFF"/>
                </a:solidFill>
                <a:latin typeface="Aptos"/>
              </a:defRPr>
            </a:pPr>
            <a:r>
              <a:t>Produit et Storytelling</a:t>
            </a:r>
          </a:p>
        </p:txBody>
      </p:sp>
      <p:sp>
        <p:nvSpPr>
          <p:cNvPr id="5" name="ZoneTexte 4">
            <a:extLst>
              <a:ext uri="{FF2B5EF4-FFF2-40B4-BE49-F238E27FC236}">
                <a16:creationId xmlns:a16="http://schemas.microsoft.com/office/drawing/2014/main" id="{982C06AF-018B-9A84-53CB-E2CCC0D6B0D0}"/>
              </a:ext>
            </a:extLst>
          </p:cNvPr>
          <p:cNvSpPr txBox="1"/>
          <p:nvPr/>
        </p:nvSpPr>
        <p:spPr>
          <a:xfrm>
            <a:off x="710543" y="2279191"/>
            <a:ext cx="6126480" cy="595932"/>
          </a:xfrm>
          <a:prstGeom prst="rect">
            <a:avLst/>
          </a:prstGeom>
          <a:noFill/>
        </p:spPr>
        <p:txBody>
          <a:bodyPr wrap="square">
            <a:spAutoFit/>
          </a:bodyPr>
          <a:lstStyle/>
          <a:p>
            <a:pPr>
              <a:lnSpc>
                <a:spcPct val="107000"/>
              </a:lnSpc>
              <a:spcBef>
                <a:spcPts val="1800"/>
              </a:spcBef>
              <a:spcAft>
                <a:spcPts val="400"/>
              </a:spcAft>
              <a:buNone/>
            </a:pPr>
            <a:r>
              <a:rPr lang="fr-FR" sz="3200" b="1" kern="100" dirty="0">
                <a:solidFill>
                  <a:srgbClr val="1F3864"/>
                </a:solidFill>
                <a:effectLst/>
                <a:latin typeface="Calibri" panose="020F0502020204030204" pitchFamily="34" charset="0"/>
                <a:ea typeface="Times New Roman" panose="02020603050405020304" pitchFamily="18" charset="0"/>
                <a:cs typeface="Times New Roman" panose="02020603050405020304" pitchFamily="18" charset="0"/>
              </a:rPr>
              <a:t>C. Plan de remédiation</a:t>
            </a:r>
          </a:p>
        </p:txBody>
      </p:sp>
    </p:spTree>
    <p:extLst>
      <p:ext uri="{BB962C8B-B14F-4D97-AF65-F5344CB8AC3E}">
        <p14:creationId xmlns:p14="http://schemas.microsoft.com/office/powerpoint/2010/main" val="3729802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5A29A-1880-7C1E-3B96-F0605A3408B7}"/>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A314918E-19F5-E069-4022-308343B600BE}"/>
              </a:ext>
            </a:extLst>
          </p:cNvPr>
          <p:cNvGraphicFramePr>
            <a:graphicFrameLocks noGrp="1"/>
          </p:cNvGraphicFramePr>
          <p:nvPr>
            <p:extLst>
              <p:ext uri="{D42A27DB-BD31-4B8C-83A1-F6EECF244321}">
                <p14:modId xmlns:p14="http://schemas.microsoft.com/office/powerpoint/2010/main" val="3309316239"/>
              </p:ext>
            </p:extLst>
          </p:nvPr>
        </p:nvGraphicFramePr>
        <p:xfrm>
          <a:off x="86062" y="648148"/>
          <a:ext cx="11876442" cy="6021582"/>
        </p:xfrm>
        <a:graphic>
          <a:graphicData uri="http://schemas.openxmlformats.org/drawingml/2006/table">
            <a:tbl>
              <a:tblPr firstRow="1" firstCol="1" bandRow="1">
                <a:tableStyleId>{616DA210-FB5B-4158-B5E0-FEB733F419BA}</a:tableStyleId>
              </a:tblPr>
              <a:tblGrid>
                <a:gridCol w="1602889">
                  <a:extLst>
                    <a:ext uri="{9D8B030D-6E8A-4147-A177-3AD203B41FA5}">
                      <a16:colId xmlns:a16="http://schemas.microsoft.com/office/drawing/2014/main" val="3214802160"/>
                    </a:ext>
                  </a:extLst>
                </a:gridCol>
                <a:gridCol w="3076687">
                  <a:extLst>
                    <a:ext uri="{9D8B030D-6E8A-4147-A177-3AD203B41FA5}">
                      <a16:colId xmlns:a16="http://schemas.microsoft.com/office/drawing/2014/main" val="1331868884"/>
                    </a:ext>
                  </a:extLst>
                </a:gridCol>
                <a:gridCol w="1097280">
                  <a:extLst>
                    <a:ext uri="{9D8B030D-6E8A-4147-A177-3AD203B41FA5}">
                      <a16:colId xmlns:a16="http://schemas.microsoft.com/office/drawing/2014/main" val="1002677934"/>
                    </a:ext>
                  </a:extLst>
                </a:gridCol>
                <a:gridCol w="1672436">
                  <a:extLst>
                    <a:ext uri="{9D8B030D-6E8A-4147-A177-3AD203B41FA5}">
                      <a16:colId xmlns:a16="http://schemas.microsoft.com/office/drawing/2014/main" val="279009031"/>
                    </a:ext>
                  </a:extLst>
                </a:gridCol>
                <a:gridCol w="1285917">
                  <a:extLst>
                    <a:ext uri="{9D8B030D-6E8A-4147-A177-3AD203B41FA5}">
                      <a16:colId xmlns:a16="http://schemas.microsoft.com/office/drawing/2014/main" val="445783929"/>
                    </a:ext>
                  </a:extLst>
                </a:gridCol>
                <a:gridCol w="3141233">
                  <a:extLst>
                    <a:ext uri="{9D8B030D-6E8A-4147-A177-3AD203B41FA5}">
                      <a16:colId xmlns:a16="http://schemas.microsoft.com/office/drawing/2014/main" val="3187384069"/>
                    </a:ext>
                  </a:extLst>
                </a:gridCol>
              </a:tblGrid>
              <a:tr h="215509">
                <a:tc>
                  <a:txBody>
                    <a:bodyPr/>
                    <a:lstStyle/>
                    <a:p>
                      <a:pPr algn="ctr">
                        <a:lnSpc>
                          <a:spcPct val="107000"/>
                        </a:lnSpc>
                        <a:spcAft>
                          <a:spcPts val="800"/>
                        </a:spcAft>
                        <a:buNone/>
                      </a:pPr>
                      <a:r>
                        <a:rPr lang="fr-FR" sz="1400" kern="100">
                          <a:effectLst/>
                        </a:rPr>
                        <a:t>Phase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Action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Constats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Responsable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Échéance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Preuve attendue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extLst>
                  <a:ext uri="{0D108BD9-81ED-4DB2-BD59-A6C34878D82A}">
                    <a16:rowId xmlns:a16="http://schemas.microsoft.com/office/drawing/2014/main" val="1642952659"/>
                  </a:ext>
                </a:extLst>
              </a:tr>
              <a:tr h="1047831">
                <a:tc>
                  <a:txBody>
                    <a:bodyPr/>
                    <a:lstStyle/>
                    <a:p>
                      <a:pPr algn="ctr">
                        <a:lnSpc>
                          <a:spcPct val="107000"/>
                        </a:lnSpc>
                        <a:spcAft>
                          <a:spcPts val="800"/>
                        </a:spcAft>
                        <a:buNone/>
                      </a:pPr>
                      <a:r>
                        <a:rPr lang="fr-FR" sz="1400" kern="100">
                          <a:effectLst/>
                        </a:rPr>
                        <a:t>Immédiat</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Révoquer toutes les sessions, remplacer les secrets, supprimer les mots de passe des logs et sécuriser les logs historiques.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S1,S2,S4</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RSSI / Lead Dev</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0–24 h</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Secrets rotatés, logs nettoyés, sessions invalidées.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extLst>
                  <a:ext uri="{0D108BD9-81ED-4DB2-BD59-A6C34878D82A}">
                    <a16:rowId xmlns:a16="http://schemas.microsoft.com/office/drawing/2014/main" val="746938178"/>
                  </a:ext>
                </a:extLst>
              </a:tr>
              <a:tr h="579820">
                <a:tc>
                  <a:txBody>
                    <a:bodyPr/>
                    <a:lstStyle/>
                    <a:p>
                      <a:pPr algn="ctr">
                        <a:lnSpc>
                          <a:spcPct val="107000"/>
                        </a:lnSpc>
                        <a:spcAft>
                          <a:spcPts val="800"/>
                        </a:spcAft>
                        <a:buNone/>
                      </a:pPr>
                      <a:r>
                        <a:rPr lang="fr-FR" sz="1400" kern="100">
                          <a:effectLst/>
                        </a:rPr>
                        <a:t>Immédiat</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Restreindre /users/:id et suspendre l’export assureur jusqu’à revue.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S5, R1</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Lead Dev / DPO</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0–24 h</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Tests 401/403 + export désactivé.</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extLst>
                  <a:ext uri="{0D108BD9-81ED-4DB2-BD59-A6C34878D82A}">
                    <a16:rowId xmlns:a16="http://schemas.microsoft.com/office/drawing/2014/main" val="1399823518"/>
                  </a:ext>
                </a:extLst>
              </a:tr>
              <a:tr h="579820">
                <a:tc>
                  <a:txBody>
                    <a:bodyPr/>
                    <a:lstStyle/>
                    <a:p>
                      <a:pPr algn="ctr">
                        <a:lnSpc>
                          <a:spcPct val="107000"/>
                        </a:lnSpc>
                        <a:spcAft>
                          <a:spcPts val="800"/>
                        </a:spcAft>
                        <a:buNone/>
                      </a:pPr>
                      <a:r>
                        <a:rPr lang="fr-FR" sz="1400" kern="100">
                          <a:effectLst/>
                        </a:rPr>
                        <a:t>Immédiat</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dirty="0">
                          <a:effectLst/>
                        </a:rPr>
                        <a:t>Supprimer le new </a:t>
                      </a:r>
                      <a:r>
                        <a:rPr lang="fr-FR" sz="1400" kern="100" dirty="0" err="1">
                          <a:effectLst/>
                        </a:rPr>
                        <a:t>Function</a:t>
                      </a:r>
                      <a:r>
                        <a:rPr lang="fr-FR" sz="1400" kern="100" dirty="0">
                          <a:effectLst/>
                        </a:rPr>
                        <a:t> et remplacer par une </a:t>
                      </a:r>
                      <a:r>
                        <a:rPr lang="fr-FR" sz="1400" kern="100" dirty="0" err="1">
                          <a:effectLst/>
                        </a:rPr>
                        <a:t>allow-list</a:t>
                      </a:r>
                      <a:r>
                        <a:rPr lang="fr-FR" sz="1400" kern="100" dirty="0">
                          <a:effectLst/>
                        </a:rPr>
                        <a:t> de filtres.</a:t>
                      </a: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S6</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Backend</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0–48 h</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Test d’injection négatif.</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extLst>
                  <a:ext uri="{0D108BD9-81ED-4DB2-BD59-A6C34878D82A}">
                    <a16:rowId xmlns:a16="http://schemas.microsoft.com/office/drawing/2014/main" val="901522785"/>
                  </a:ext>
                </a:extLst>
              </a:tr>
              <a:tr h="696824">
                <a:tc>
                  <a:txBody>
                    <a:bodyPr/>
                    <a:lstStyle/>
                    <a:p>
                      <a:pPr algn="ctr">
                        <a:lnSpc>
                          <a:spcPct val="107000"/>
                        </a:lnSpc>
                        <a:spcAft>
                          <a:spcPts val="800"/>
                        </a:spcAft>
                        <a:buNone/>
                      </a:pPr>
                      <a:r>
                        <a:rPr lang="fr-FR" sz="1400" kern="100">
                          <a:effectLst/>
                        </a:rPr>
                        <a:t>Court terme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Passer à Argon2id/bcrypt avec sel et politique de migration des comptes.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S3</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Backend</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S1</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Tests hash + migration.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extLst>
                  <a:ext uri="{0D108BD9-81ED-4DB2-BD59-A6C34878D82A}">
                    <a16:rowId xmlns:a16="http://schemas.microsoft.com/office/drawing/2014/main" val="1969406941"/>
                  </a:ext>
                </a:extLst>
              </a:tr>
              <a:tr h="462817">
                <a:tc>
                  <a:txBody>
                    <a:bodyPr/>
                    <a:lstStyle/>
                    <a:p>
                      <a:pPr algn="ctr">
                        <a:lnSpc>
                          <a:spcPct val="107000"/>
                        </a:lnSpc>
                        <a:spcAft>
                          <a:spcPts val="800"/>
                        </a:spcAft>
                        <a:buNone/>
                      </a:pPr>
                      <a:r>
                        <a:rPr lang="fr-FR" sz="1400" kern="100">
                          <a:effectLst/>
                        </a:rPr>
                        <a:t>Court terme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Mettre en place RBAC/ABAC pour salarié, coach, RH, admin.</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S5</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Backend / DPO</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S1–S2</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Matrice d’habilitation et tests.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extLst>
                  <a:ext uri="{0D108BD9-81ED-4DB2-BD59-A6C34878D82A}">
                    <a16:rowId xmlns:a16="http://schemas.microsoft.com/office/drawing/2014/main" val="1205685219"/>
                  </a:ext>
                </a:extLst>
              </a:tr>
              <a:tr h="696824">
                <a:tc>
                  <a:txBody>
                    <a:bodyPr/>
                    <a:lstStyle/>
                    <a:p>
                      <a:pPr algn="ctr">
                        <a:lnSpc>
                          <a:spcPct val="107000"/>
                        </a:lnSpc>
                        <a:spcAft>
                          <a:spcPts val="800"/>
                        </a:spcAft>
                        <a:buNone/>
                      </a:pPr>
                      <a:r>
                        <a:rPr lang="fr-FR" sz="1400" kern="100">
                          <a:effectLst/>
                        </a:rPr>
                        <a:t>Court terme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Recueillir les consentements séparément et journaliser preuve, version, date et finalité.</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R1</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Produit / DPO</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S2</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Parcours UX + tests.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extLst>
                  <a:ext uri="{0D108BD9-81ED-4DB2-BD59-A6C34878D82A}">
                    <a16:rowId xmlns:a16="http://schemas.microsoft.com/office/drawing/2014/main" val="2287292709"/>
                  </a:ext>
                </a:extLst>
              </a:tr>
              <a:tr h="579820">
                <a:tc>
                  <a:txBody>
                    <a:bodyPr/>
                    <a:lstStyle/>
                    <a:p>
                      <a:pPr algn="ctr">
                        <a:lnSpc>
                          <a:spcPct val="107000"/>
                        </a:lnSpc>
                        <a:spcAft>
                          <a:spcPts val="800"/>
                        </a:spcAft>
                        <a:buNone/>
                      </a:pPr>
                      <a:r>
                        <a:rPr lang="fr-FR" sz="1400" kern="100">
                          <a:effectLst/>
                        </a:rPr>
                        <a:t>Structurel</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Politique de conservation et purge automatisée par catégorie.</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R4</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DPO / Data</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S3</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Jobs de purge + rapport.</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extLst>
                  <a:ext uri="{0D108BD9-81ED-4DB2-BD59-A6C34878D82A}">
                    <a16:rowId xmlns:a16="http://schemas.microsoft.com/office/drawing/2014/main" val="3739929696"/>
                  </a:ext>
                </a:extLst>
              </a:tr>
              <a:tr h="579820">
                <a:tc>
                  <a:txBody>
                    <a:bodyPr/>
                    <a:lstStyle/>
                    <a:p>
                      <a:pPr algn="ctr">
                        <a:lnSpc>
                          <a:spcPct val="107000"/>
                        </a:lnSpc>
                        <a:spcAft>
                          <a:spcPts val="800"/>
                        </a:spcAft>
                        <a:buNone/>
                      </a:pPr>
                      <a:r>
                        <a:rPr lang="fr-FR" sz="1400" kern="100">
                          <a:effectLst/>
                        </a:rPr>
                        <a:t>Structurel</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Allow-list de l’export assureur, chiffrement, contrat et revue DPO.</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R5</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DPO / RSSI</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S3</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Schéma d’export minimal.</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extLst>
                  <a:ext uri="{0D108BD9-81ED-4DB2-BD59-A6C34878D82A}">
                    <a16:rowId xmlns:a16="http://schemas.microsoft.com/office/drawing/2014/main" val="3415486231"/>
                  </a:ext>
                </a:extLst>
              </a:tr>
              <a:tr h="579820">
                <a:tc>
                  <a:txBody>
                    <a:bodyPr/>
                    <a:lstStyle/>
                    <a:p>
                      <a:pPr algn="ctr">
                        <a:lnSpc>
                          <a:spcPct val="107000"/>
                        </a:lnSpc>
                        <a:spcAft>
                          <a:spcPts val="800"/>
                        </a:spcAft>
                        <a:buNone/>
                      </a:pPr>
                      <a:r>
                        <a:rPr lang="fr-FR" sz="1400" kern="100">
                          <a:effectLst/>
                        </a:rPr>
                        <a:t>Structurel</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CI sécurité : secret scanning, SAST, tests d’autorisation, dépendances.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S1–S8</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DevOps</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a:effectLst/>
                        </a:rPr>
                        <a:t>S3–S4</a:t>
                      </a:r>
                      <a:endParaRPr lang="fr-FR" sz="1400" kern="10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tc>
                  <a:txBody>
                    <a:bodyPr/>
                    <a:lstStyle/>
                    <a:p>
                      <a:pPr algn="ctr">
                        <a:lnSpc>
                          <a:spcPct val="107000"/>
                        </a:lnSpc>
                        <a:spcAft>
                          <a:spcPts val="800"/>
                        </a:spcAft>
                        <a:buNone/>
                      </a:pPr>
                      <a:r>
                        <a:rPr lang="fr-FR" sz="1400" kern="100" dirty="0">
                          <a:effectLst/>
                        </a:rPr>
                        <a:t>Pipeline bloquant</a:t>
                      </a:r>
                      <a:endParaRPr lang="fr-FR" sz="1400" kern="100" dirty="0">
                        <a:effectLst/>
                        <a:latin typeface="Calibri" panose="020F0502020204030204" pitchFamily="34" charset="0"/>
                        <a:ea typeface="Calibri" panose="020F0502020204030204" pitchFamily="34" charset="0"/>
                        <a:cs typeface="Arial" panose="020B0604020202020204" pitchFamily="34" charset="0"/>
                      </a:endParaRPr>
                    </a:p>
                  </a:txBody>
                  <a:tcPr marL="37001" marR="37001" marT="0" marB="0" anchor="ctr"/>
                </a:tc>
                <a:extLst>
                  <a:ext uri="{0D108BD9-81ED-4DB2-BD59-A6C34878D82A}">
                    <a16:rowId xmlns:a16="http://schemas.microsoft.com/office/drawing/2014/main" val="680564414"/>
                  </a:ext>
                </a:extLst>
              </a:tr>
            </a:tbl>
          </a:graphicData>
        </a:graphic>
      </p:graphicFrame>
      <p:sp>
        <p:nvSpPr>
          <p:cNvPr id="3" name="Rectangle 1">
            <a:extLst>
              <a:ext uri="{FF2B5EF4-FFF2-40B4-BE49-F238E27FC236}">
                <a16:creationId xmlns:a16="http://schemas.microsoft.com/office/drawing/2014/main" id="{C89F1605-C13B-97DE-94F3-F40F4213A6FE}"/>
              </a:ext>
            </a:extLst>
          </p:cNvPr>
          <p:cNvSpPr>
            <a:spLocks noChangeArrowheads="1"/>
          </p:cNvSpPr>
          <p:nvPr/>
        </p:nvSpPr>
        <p:spPr bwMode="auto">
          <a:xfrm>
            <a:off x="86062" y="19094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C1. Plan priorisé</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667140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4A509-6012-78E2-5D6C-4E9C5F5E761A}"/>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DBD32B10-63BB-B026-4727-215F55DA104E}"/>
              </a:ext>
            </a:extLst>
          </p:cNvPr>
          <p:cNvSpPr txBox="1"/>
          <p:nvPr/>
        </p:nvSpPr>
        <p:spPr>
          <a:xfrm>
            <a:off x="282389" y="184918"/>
            <a:ext cx="11701630" cy="4833246"/>
          </a:xfrm>
          <a:prstGeom prst="rect">
            <a:avLst/>
          </a:prstGeom>
          <a:noFill/>
        </p:spPr>
        <p:txBody>
          <a:bodyPr wrap="square">
            <a:spAutoFit/>
          </a:bodyPr>
          <a:lstStyle/>
          <a:p>
            <a:pPr>
              <a:lnSpc>
                <a:spcPct val="107000"/>
              </a:lnSpc>
              <a:spcBef>
                <a:spcPts val="1800"/>
              </a:spcBef>
              <a:spcAft>
                <a:spcPts val="400"/>
              </a:spcAft>
              <a:buNone/>
            </a:pPr>
            <a:r>
              <a:rPr lang="fr-FR" sz="4400" b="1" kern="100" dirty="0">
                <a:solidFill>
                  <a:srgbClr val="1F3864"/>
                </a:solidFill>
                <a:effectLst/>
                <a:latin typeface="Calibri" panose="020F0502020204030204" pitchFamily="34" charset="0"/>
                <a:ea typeface="Times New Roman" panose="02020603050405020304" pitchFamily="18" charset="0"/>
                <a:cs typeface="Times New Roman" panose="02020603050405020304" pitchFamily="18" charset="0"/>
              </a:rPr>
              <a:t>D. Méthodologie Agile</a:t>
            </a:r>
          </a:p>
          <a:p>
            <a:pPr>
              <a:lnSpc>
                <a:spcPct val="107000"/>
              </a:lnSpc>
              <a:spcBef>
                <a:spcPts val="800"/>
              </a:spcBef>
              <a:spcAft>
                <a:spcPts val="400"/>
              </a:spcAft>
              <a:buNone/>
            </a:pPr>
            <a:endParaRPr lang="fr-FR" sz="36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Bef>
                <a:spcPts val="800"/>
              </a:spcBef>
              <a:spcAft>
                <a:spcPts val="400"/>
              </a:spcAft>
              <a:buNone/>
            </a:pPr>
            <a:r>
              <a:rPr lang="fr-FR" sz="36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D1. Équipe proposée</a:t>
            </a:r>
          </a:p>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Arial" panose="020B0604020202020204" pitchFamily="34" charset="0"/>
              </a:rPr>
              <a:t>1. Product </a:t>
            </a:r>
            <a:r>
              <a:rPr lang="fr-FR" sz="1800" b="1" kern="100" dirty="0" err="1">
                <a:effectLst/>
                <a:latin typeface="Calibri" panose="020F0502020204030204" pitchFamily="34" charset="0"/>
                <a:ea typeface="Calibri" panose="020F0502020204030204" pitchFamily="34" charset="0"/>
                <a:cs typeface="Arial" panose="020B0604020202020204" pitchFamily="34" charset="0"/>
              </a:rPr>
              <a:t>Owner</a:t>
            </a:r>
            <a:r>
              <a:rPr lang="fr-FR" sz="1800" b="1" kern="100" dirty="0">
                <a:effectLst/>
                <a:latin typeface="Calibri" panose="020F0502020204030204" pitchFamily="34" charset="0"/>
                <a:ea typeface="Calibri" panose="020F0502020204030204" pitchFamily="34" charset="0"/>
                <a:cs typeface="Arial" panose="020B0604020202020204" pitchFamily="34" charset="0"/>
              </a:rPr>
              <a:t> </a:t>
            </a:r>
            <a:r>
              <a:rPr lang="fr-FR" sz="1800" kern="100" dirty="0">
                <a:effectLst/>
                <a:latin typeface="Calibri" panose="020F0502020204030204" pitchFamily="34" charset="0"/>
                <a:ea typeface="Calibri" panose="020F0502020204030204" pitchFamily="34" charset="0"/>
                <a:cs typeface="Arial" panose="020B0604020202020204" pitchFamily="34" charset="0"/>
              </a:rPr>
              <a:t>Arbitre la valeur métier et le renouvellement du grand compte.</a:t>
            </a:r>
          </a:p>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Arial" panose="020B0604020202020204" pitchFamily="34" charset="0"/>
              </a:rPr>
              <a:t>2. Tech Lead / RSSI </a:t>
            </a:r>
            <a:r>
              <a:rPr lang="fr-FR" sz="1800" kern="100" dirty="0">
                <a:effectLst/>
                <a:latin typeface="Calibri" panose="020F0502020204030204" pitchFamily="34" charset="0"/>
                <a:ea typeface="Calibri" panose="020F0502020204030204" pitchFamily="34" charset="0"/>
                <a:cs typeface="Arial" panose="020B0604020202020204" pitchFamily="34" charset="0"/>
              </a:rPr>
              <a:t>Responsable de l’architecture, sécurité et acceptation des contrôles techniques.</a:t>
            </a:r>
          </a:p>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Arial" panose="020B0604020202020204" pitchFamily="34" charset="0"/>
              </a:rPr>
              <a:t>3. DPO </a:t>
            </a:r>
            <a:r>
              <a:rPr lang="fr-FR" sz="1800" kern="100" dirty="0">
                <a:effectLst/>
                <a:latin typeface="Calibri" panose="020F0502020204030204" pitchFamily="34" charset="0"/>
                <a:ea typeface="Calibri" panose="020F0502020204030204" pitchFamily="34" charset="0"/>
                <a:cs typeface="Arial" panose="020B0604020202020204" pitchFamily="34" charset="0"/>
              </a:rPr>
              <a:t>Valide les finalités, bases légales, AIPD, droits et conservation.</a:t>
            </a:r>
          </a:p>
          <a:p>
            <a:pPr>
              <a:lnSpc>
                <a:spcPct val="107000"/>
              </a:lnSpc>
              <a:spcAft>
                <a:spcPts val="800"/>
              </a:spcAft>
              <a:buNone/>
            </a:pPr>
            <a:r>
              <a:rPr lang="fr-FR" sz="1800" kern="100" dirty="0">
                <a:effectLst/>
                <a:latin typeface="Calibri" panose="020F0502020204030204" pitchFamily="34" charset="0"/>
                <a:ea typeface="Calibri" panose="020F0502020204030204" pitchFamily="34" charset="0"/>
                <a:cs typeface="Arial" panose="020B0604020202020204" pitchFamily="34" charset="0"/>
              </a:rPr>
              <a:t>Équipe de 5 à 6 personnes : PO, Tech Lead/RSSI, 2 développeurs backend/full-stack, 1 </a:t>
            </a:r>
            <a:r>
              <a:rPr lang="fr-FR" sz="1800" kern="100" dirty="0" err="1">
                <a:effectLst/>
                <a:latin typeface="Calibri" panose="020F0502020204030204" pitchFamily="34" charset="0"/>
                <a:ea typeface="Calibri" panose="020F0502020204030204" pitchFamily="34" charset="0"/>
                <a:cs typeface="Arial" panose="020B0604020202020204" pitchFamily="34" charset="0"/>
              </a:rPr>
              <a:t>DevSecOps</a:t>
            </a:r>
            <a:r>
              <a:rPr lang="fr-FR" sz="1800" kern="100" dirty="0">
                <a:effectLst/>
                <a:latin typeface="Calibri" panose="020F0502020204030204" pitchFamily="34" charset="0"/>
                <a:ea typeface="Calibri" panose="020F0502020204030204" pitchFamily="34" charset="0"/>
                <a:cs typeface="Arial" panose="020B0604020202020204" pitchFamily="34" charset="0"/>
              </a:rPr>
              <a:t>, DPO à temps partiel. Ce format est adapté à une start-up : assez compact pour décider vite, mais avec une séparation explicite entre produit, sécurité et conformité.</a:t>
            </a:r>
          </a:p>
          <a:p>
            <a:pPr>
              <a:lnSpc>
                <a:spcPct val="107000"/>
              </a:lnSpc>
              <a:spcAft>
                <a:spcPts val="800"/>
              </a:spcAft>
              <a:buNone/>
            </a:pPr>
            <a:r>
              <a:rPr lang="fr-FR" sz="1800" kern="100" dirty="0">
                <a:effectLst/>
                <a:latin typeface="Calibri" panose="020F0502020204030204" pitchFamily="34" charset="0"/>
                <a:ea typeface="Calibri" panose="020F0502020204030204" pitchFamily="34" charset="0"/>
                <a:cs typeface="Arial" panose="020B0604020202020204" pitchFamily="34" charset="0"/>
              </a:rPr>
              <a:t> </a:t>
            </a:r>
          </a:p>
        </p:txBody>
      </p:sp>
    </p:spTree>
    <p:extLst>
      <p:ext uri="{BB962C8B-B14F-4D97-AF65-F5344CB8AC3E}">
        <p14:creationId xmlns:p14="http://schemas.microsoft.com/office/powerpoint/2010/main" val="3162036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48789-4071-7103-C1D6-5AB0C2A054DC}"/>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092F4597-3103-C3F6-A040-6CAFEEF1D0C4}"/>
              </a:ext>
            </a:extLst>
          </p:cNvPr>
          <p:cNvGraphicFramePr>
            <a:graphicFrameLocks noGrp="1"/>
          </p:cNvGraphicFramePr>
          <p:nvPr>
            <p:extLst>
              <p:ext uri="{D42A27DB-BD31-4B8C-83A1-F6EECF244321}">
                <p14:modId xmlns:p14="http://schemas.microsoft.com/office/powerpoint/2010/main" val="2302381854"/>
              </p:ext>
            </p:extLst>
          </p:nvPr>
        </p:nvGraphicFramePr>
        <p:xfrm>
          <a:off x="157497" y="672168"/>
          <a:ext cx="11772734" cy="5970863"/>
        </p:xfrm>
        <a:graphic>
          <a:graphicData uri="http://schemas.openxmlformats.org/drawingml/2006/table">
            <a:tbl>
              <a:tblPr firstRow="1" firstCol="1" bandRow="1">
                <a:tableStyleId>{616DA210-FB5B-4158-B5E0-FEB733F419BA}</a:tableStyleId>
              </a:tblPr>
              <a:tblGrid>
                <a:gridCol w="821449">
                  <a:extLst>
                    <a:ext uri="{9D8B030D-6E8A-4147-A177-3AD203B41FA5}">
                      <a16:colId xmlns:a16="http://schemas.microsoft.com/office/drawing/2014/main" val="690502186"/>
                    </a:ext>
                  </a:extLst>
                </a:gridCol>
                <a:gridCol w="817581">
                  <a:extLst>
                    <a:ext uri="{9D8B030D-6E8A-4147-A177-3AD203B41FA5}">
                      <a16:colId xmlns:a16="http://schemas.microsoft.com/office/drawing/2014/main" val="883411807"/>
                    </a:ext>
                  </a:extLst>
                </a:gridCol>
                <a:gridCol w="4757010">
                  <a:extLst>
                    <a:ext uri="{9D8B030D-6E8A-4147-A177-3AD203B41FA5}">
                      <a16:colId xmlns:a16="http://schemas.microsoft.com/office/drawing/2014/main" val="2196417590"/>
                    </a:ext>
                  </a:extLst>
                </a:gridCol>
                <a:gridCol w="3763047">
                  <a:extLst>
                    <a:ext uri="{9D8B030D-6E8A-4147-A177-3AD203B41FA5}">
                      <a16:colId xmlns:a16="http://schemas.microsoft.com/office/drawing/2014/main" val="1837089523"/>
                    </a:ext>
                  </a:extLst>
                </a:gridCol>
                <a:gridCol w="1613647">
                  <a:extLst>
                    <a:ext uri="{9D8B030D-6E8A-4147-A177-3AD203B41FA5}">
                      <a16:colId xmlns:a16="http://schemas.microsoft.com/office/drawing/2014/main" val="539500447"/>
                    </a:ext>
                  </a:extLst>
                </a:gridCol>
              </a:tblGrid>
              <a:tr h="392395">
                <a:tc>
                  <a:txBody>
                    <a:bodyPr/>
                    <a:lstStyle/>
                    <a:p>
                      <a:pPr algn="ctr">
                        <a:lnSpc>
                          <a:spcPct val="107000"/>
                        </a:lnSpc>
                        <a:spcAft>
                          <a:spcPts val="800"/>
                        </a:spcAft>
                        <a:buNone/>
                      </a:pPr>
                      <a:r>
                        <a:rPr lang="fr-FR" sz="1600" kern="100">
                          <a:effectLst/>
                        </a:rPr>
                        <a:t>ID</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dirty="0">
                          <a:effectLst/>
                        </a:rPr>
                        <a:t>Type</a:t>
                      </a:r>
                      <a:endParaRPr lang="fr-FR" sz="1600" kern="100" dirty="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Story</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Critères d’acceptation</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Priorité</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extLst>
                  <a:ext uri="{0D108BD9-81ED-4DB2-BD59-A6C34878D82A}">
                    <a16:rowId xmlns:a16="http://schemas.microsoft.com/office/drawing/2014/main" val="3313000882"/>
                  </a:ext>
                </a:extLst>
              </a:tr>
              <a:tr h="934795">
                <a:tc>
                  <a:txBody>
                    <a:bodyPr/>
                    <a:lstStyle/>
                    <a:p>
                      <a:pPr algn="ctr">
                        <a:lnSpc>
                          <a:spcPct val="107000"/>
                        </a:lnSpc>
                        <a:spcAft>
                          <a:spcPts val="800"/>
                        </a:spcAft>
                        <a:buNone/>
                      </a:pPr>
                      <a:r>
                        <a:rPr lang="fr-FR" sz="1600" kern="100">
                          <a:effectLst/>
                        </a:rPr>
                        <a:t>EP1-01</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dirty="0">
                          <a:effectLst/>
                        </a:rPr>
                        <a:t>User</a:t>
                      </a:r>
                      <a:endParaRPr lang="fr-FR" sz="1600" kern="100" dirty="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En tant qu’utilisateur, je veux que mon questionnaire ne soit visible que par les rôles autorisés.</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Utilisateur A reçoit 403 pour les données de B ; coach/RH selon matrice.</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P0</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extLst>
                  <a:ext uri="{0D108BD9-81ED-4DB2-BD59-A6C34878D82A}">
                    <a16:rowId xmlns:a16="http://schemas.microsoft.com/office/drawing/2014/main" val="1057049370"/>
                  </a:ext>
                </a:extLst>
              </a:tr>
              <a:tr h="746171">
                <a:tc>
                  <a:txBody>
                    <a:bodyPr/>
                    <a:lstStyle/>
                    <a:p>
                      <a:pPr algn="ctr">
                        <a:lnSpc>
                          <a:spcPct val="107000"/>
                        </a:lnSpc>
                        <a:spcAft>
                          <a:spcPts val="800"/>
                        </a:spcAft>
                        <a:buNone/>
                      </a:pPr>
                      <a:r>
                        <a:rPr lang="fr-FR" sz="1600" kern="100">
                          <a:effectLst/>
                        </a:rPr>
                        <a:t>EP1-02</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Abuser</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En tant qu’attaquant authentifié, je tente d’énumérer les utilisateurs.</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Les routes refusent les IDs non autorisés et ne divulguent pas de données sensibles.</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P0</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extLst>
                  <a:ext uri="{0D108BD9-81ED-4DB2-BD59-A6C34878D82A}">
                    <a16:rowId xmlns:a16="http://schemas.microsoft.com/office/drawing/2014/main" val="87903534"/>
                  </a:ext>
                </a:extLst>
              </a:tr>
              <a:tr h="635135">
                <a:tc>
                  <a:txBody>
                    <a:bodyPr/>
                    <a:lstStyle/>
                    <a:p>
                      <a:pPr algn="ctr">
                        <a:lnSpc>
                          <a:spcPct val="107000"/>
                        </a:lnSpc>
                        <a:spcAft>
                          <a:spcPts val="800"/>
                        </a:spcAft>
                        <a:buNone/>
                      </a:pPr>
                      <a:r>
                        <a:rPr lang="fr-FR" sz="1600" kern="100">
                          <a:effectLst/>
                        </a:rPr>
                        <a:t>EP2-01</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Abuser</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Je tente d’injecter une expression dans filter.</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Aucune chaîne utilisateur n’est exécutée ; payloads malveillants rejetés.</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P0</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extLst>
                  <a:ext uri="{0D108BD9-81ED-4DB2-BD59-A6C34878D82A}">
                    <a16:rowId xmlns:a16="http://schemas.microsoft.com/office/drawing/2014/main" val="177091655"/>
                  </a:ext>
                </a:extLst>
              </a:tr>
              <a:tr h="622963">
                <a:tc>
                  <a:txBody>
                    <a:bodyPr/>
                    <a:lstStyle/>
                    <a:p>
                      <a:pPr algn="ctr">
                        <a:lnSpc>
                          <a:spcPct val="107000"/>
                        </a:lnSpc>
                        <a:spcAft>
                          <a:spcPts val="800"/>
                        </a:spcAft>
                        <a:buNone/>
                      </a:pPr>
                      <a:r>
                        <a:rPr lang="fr-FR" sz="1600" kern="100">
                          <a:effectLst/>
                        </a:rPr>
                        <a:t>EP2-02</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User</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Je veux une session difficile à voler.</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Token aléatoire, expiration, révocation et rotation.</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P0</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extLst>
                  <a:ext uri="{0D108BD9-81ED-4DB2-BD59-A6C34878D82A}">
                    <a16:rowId xmlns:a16="http://schemas.microsoft.com/office/drawing/2014/main" val="2806999330"/>
                  </a:ext>
                </a:extLst>
              </a:tr>
              <a:tr h="635135">
                <a:tc>
                  <a:txBody>
                    <a:bodyPr/>
                    <a:lstStyle/>
                    <a:p>
                      <a:pPr algn="ctr">
                        <a:lnSpc>
                          <a:spcPct val="107000"/>
                        </a:lnSpc>
                        <a:spcAft>
                          <a:spcPts val="800"/>
                        </a:spcAft>
                        <a:buNone/>
                      </a:pPr>
                      <a:r>
                        <a:rPr lang="fr-FR" sz="1600" kern="100">
                          <a:effectLst/>
                        </a:rPr>
                        <a:t>EP3-01</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User</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Je veux donner séparément mon accord au marketing et aux tiers.</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Aucun consentement pré-coché ; preuve versionnée et révocable.</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P1</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extLst>
                  <a:ext uri="{0D108BD9-81ED-4DB2-BD59-A6C34878D82A}">
                    <a16:rowId xmlns:a16="http://schemas.microsoft.com/office/drawing/2014/main" val="3430441556"/>
                  </a:ext>
                </a:extLst>
              </a:tr>
              <a:tr h="635135">
                <a:tc>
                  <a:txBody>
                    <a:bodyPr/>
                    <a:lstStyle/>
                    <a:p>
                      <a:pPr algn="ctr">
                        <a:lnSpc>
                          <a:spcPct val="107000"/>
                        </a:lnSpc>
                        <a:spcAft>
                          <a:spcPts val="800"/>
                        </a:spcAft>
                        <a:buNone/>
                      </a:pPr>
                      <a:r>
                        <a:rPr lang="fr-FR" sz="1600" kern="100">
                          <a:effectLst/>
                        </a:rPr>
                        <a:t>EP3-02</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User</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Je veux comprendre combien de temps mes données sont conservées.</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Durées affichées par catégorie et purge démontrable.</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P1</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extLst>
                  <a:ext uri="{0D108BD9-81ED-4DB2-BD59-A6C34878D82A}">
                    <a16:rowId xmlns:a16="http://schemas.microsoft.com/office/drawing/2014/main" val="2640262377"/>
                  </a:ext>
                </a:extLst>
              </a:tr>
              <a:tr h="622963">
                <a:tc>
                  <a:txBody>
                    <a:bodyPr/>
                    <a:lstStyle/>
                    <a:p>
                      <a:pPr algn="ctr">
                        <a:lnSpc>
                          <a:spcPct val="107000"/>
                        </a:lnSpc>
                        <a:spcAft>
                          <a:spcPts val="800"/>
                        </a:spcAft>
                        <a:buNone/>
                      </a:pPr>
                      <a:r>
                        <a:rPr lang="fr-FR" sz="1600" kern="100">
                          <a:effectLst/>
                        </a:rPr>
                        <a:t>EP4-01</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Abuser</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Je recherche des secrets dans le dépôt et les logs.</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Secret scanning sans findings critiques ; logs sans credentials.</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P0</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extLst>
                  <a:ext uri="{0D108BD9-81ED-4DB2-BD59-A6C34878D82A}">
                    <a16:rowId xmlns:a16="http://schemas.microsoft.com/office/drawing/2014/main" val="341435305"/>
                  </a:ext>
                </a:extLst>
              </a:tr>
              <a:tr h="746171">
                <a:tc>
                  <a:txBody>
                    <a:bodyPr/>
                    <a:lstStyle/>
                    <a:p>
                      <a:pPr algn="ctr">
                        <a:lnSpc>
                          <a:spcPct val="107000"/>
                        </a:lnSpc>
                        <a:spcAft>
                          <a:spcPts val="800"/>
                        </a:spcAft>
                        <a:buNone/>
                      </a:pPr>
                      <a:r>
                        <a:rPr lang="fr-FR" sz="1600" kern="100">
                          <a:effectLst/>
                        </a:rPr>
                        <a:t>EP5-01</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User</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Je veux qu’un export assureur ne contienne que les données nécessaires.</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a:effectLst/>
                        </a:rPr>
                        <a:t>Schéma d’export allow-listé et approuvé DPO.</a:t>
                      </a:r>
                      <a:endParaRPr lang="fr-FR" sz="1600" kern="10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tc>
                  <a:txBody>
                    <a:bodyPr/>
                    <a:lstStyle/>
                    <a:p>
                      <a:pPr algn="ctr">
                        <a:lnSpc>
                          <a:spcPct val="107000"/>
                        </a:lnSpc>
                        <a:spcAft>
                          <a:spcPts val="800"/>
                        </a:spcAft>
                        <a:buNone/>
                      </a:pPr>
                      <a:r>
                        <a:rPr lang="fr-FR" sz="1600" kern="100" dirty="0">
                          <a:effectLst/>
                        </a:rPr>
                        <a:t>P1</a:t>
                      </a:r>
                      <a:endParaRPr lang="fr-FR" sz="1600" kern="100" dirty="0">
                        <a:effectLst/>
                        <a:latin typeface="Calibri" panose="020F0502020204030204" pitchFamily="34" charset="0"/>
                        <a:ea typeface="Calibri" panose="020F0502020204030204" pitchFamily="34" charset="0"/>
                        <a:cs typeface="Arial" panose="020B0604020202020204" pitchFamily="34" charset="0"/>
                      </a:endParaRPr>
                    </a:p>
                  </a:txBody>
                  <a:tcPr marL="60165" marR="60165" marT="0" marB="0" anchor="ctr"/>
                </a:tc>
                <a:extLst>
                  <a:ext uri="{0D108BD9-81ED-4DB2-BD59-A6C34878D82A}">
                    <a16:rowId xmlns:a16="http://schemas.microsoft.com/office/drawing/2014/main" val="2719258096"/>
                  </a:ext>
                </a:extLst>
              </a:tr>
            </a:tbl>
          </a:graphicData>
        </a:graphic>
      </p:graphicFrame>
      <p:sp>
        <p:nvSpPr>
          <p:cNvPr id="3" name="Rectangle 1">
            <a:extLst>
              <a:ext uri="{FF2B5EF4-FFF2-40B4-BE49-F238E27FC236}">
                <a16:creationId xmlns:a16="http://schemas.microsoft.com/office/drawing/2014/main" id="{F6361B1C-5835-8FFF-9047-23103A330C23}"/>
              </a:ext>
            </a:extLst>
          </p:cNvPr>
          <p:cNvSpPr>
            <a:spLocks noChangeArrowheads="1"/>
          </p:cNvSpPr>
          <p:nvPr/>
        </p:nvSpPr>
        <p:spPr bwMode="auto">
          <a:xfrm>
            <a:off x="0" y="21496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a:ln>
                  <a:noFill/>
                </a:ln>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D2. Backlog : epics, user stories et abuser stories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05294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BA83C-50E2-1A6D-EFCD-90F3C348EEA3}"/>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6B9806B9-92D7-8661-BAE3-76FFFF767462}"/>
              </a:ext>
            </a:extLst>
          </p:cNvPr>
          <p:cNvGraphicFramePr>
            <a:graphicFrameLocks noGrp="1"/>
          </p:cNvGraphicFramePr>
          <p:nvPr>
            <p:extLst>
              <p:ext uri="{D42A27DB-BD31-4B8C-83A1-F6EECF244321}">
                <p14:modId xmlns:p14="http://schemas.microsoft.com/office/powerpoint/2010/main" val="1100261311"/>
              </p:ext>
            </p:extLst>
          </p:nvPr>
        </p:nvGraphicFramePr>
        <p:xfrm>
          <a:off x="231681" y="824135"/>
          <a:ext cx="11741580" cy="5830684"/>
        </p:xfrm>
        <a:graphic>
          <a:graphicData uri="http://schemas.openxmlformats.org/drawingml/2006/table">
            <a:tbl>
              <a:tblPr firstRow="1" firstCol="1" bandRow="1">
                <a:tableStyleId>{616DA210-FB5B-4158-B5E0-FEB733F419BA}</a:tableStyleId>
              </a:tblPr>
              <a:tblGrid>
                <a:gridCol w="2348316">
                  <a:extLst>
                    <a:ext uri="{9D8B030D-6E8A-4147-A177-3AD203B41FA5}">
                      <a16:colId xmlns:a16="http://schemas.microsoft.com/office/drawing/2014/main" val="3179825419"/>
                    </a:ext>
                  </a:extLst>
                </a:gridCol>
                <a:gridCol w="2348316">
                  <a:extLst>
                    <a:ext uri="{9D8B030D-6E8A-4147-A177-3AD203B41FA5}">
                      <a16:colId xmlns:a16="http://schemas.microsoft.com/office/drawing/2014/main" val="4128863801"/>
                    </a:ext>
                  </a:extLst>
                </a:gridCol>
                <a:gridCol w="2348316">
                  <a:extLst>
                    <a:ext uri="{9D8B030D-6E8A-4147-A177-3AD203B41FA5}">
                      <a16:colId xmlns:a16="http://schemas.microsoft.com/office/drawing/2014/main" val="2510019853"/>
                    </a:ext>
                  </a:extLst>
                </a:gridCol>
                <a:gridCol w="2348316">
                  <a:extLst>
                    <a:ext uri="{9D8B030D-6E8A-4147-A177-3AD203B41FA5}">
                      <a16:colId xmlns:a16="http://schemas.microsoft.com/office/drawing/2014/main" val="3478970026"/>
                    </a:ext>
                  </a:extLst>
                </a:gridCol>
                <a:gridCol w="2348316">
                  <a:extLst>
                    <a:ext uri="{9D8B030D-6E8A-4147-A177-3AD203B41FA5}">
                      <a16:colId xmlns:a16="http://schemas.microsoft.com/office/drawing/2014/main" val="1118318309"/>
                    </a:ext>
                  </a:extLst>
                </a:gridCol>
              </a:tblGrid>
              <a:tr h="763877">
                <a:tc>
                  <a:txBody>
                    <a:bodyPr/>
                    <a:lstStyle/>
                    <a:p>
                      <a:pPr algn="ctr">
                        <a:lnSpc>
                          <a:spcPct val="107000"/>
                        </a:lnSpc>
                        <a:spcAft>
                          <a:spcPts val="800"/>
                        </a:spcAft>
                        <a:buNone/>
                      </a:pPr>
                      <a:r>
                        <a:rPr lang="fr-FR" sz="1800" kern="100">
                          <a:effectLst/>
                        </a:rPr>
                        <a:t>Item</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Risque (1–5)</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Valeur (1–5)</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Effort (1–5)</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Score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623570616"/>
                  </a:ext>
                </a:extLst>
              </a:tr>
              <a:tr h="763877">
                <a:tc>
                  <a:txBody>
                    <a:bodyPr/>
                    <a:lstStyle/>
                    <a:p>
                      <a:pPr algn="ctr">
                        <a:lnSpc>
                          <a:spcPct val="107000"/>
                        </a:lnSpc>
                        <a:spcAft>
                          <a:spcPts val="800"/>
                        </a:spcAft>
                        <a:buNone/>
                      </a:pPr>
                      <a:r>
                        <a:rPr lang="fr-FR" sz="1800" kern="100">
                          <a:effectLst/>
                        </a:rPr>
                        <a:t>Contrôle d’accès objet</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5</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5</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3</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8,3</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525316280"/>
                  </a:ext>
                </a:extLst>
              </a:tr>
              <a:tr h="917749">
                <a:tc>
                  <a:txBody>
                    <a:bodyPr/>
                    <a:lstStyle/>
                    <a:p>
                      <a:pPr algn="ctr">
                        <a:lnSpc>
                          <a:spcPct val="107000"/>
                        </a:lnSpc>
                        <a:spcAft>
                          <a:spcPts val="800"/>
                        </a:spcAft>
                        <a:buNone/>
                      </a:pPr>
                      <a:r>
                        <a:rPr lang="fr-FR" sz="1800" kern="100">
                          <a:effectLst/>
                        </a:rPr>
                        <a:t>Suppression des secrets des logs</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5</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5</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2</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12,5</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004033354"/>
                  </a:ext>
                </a:extLst>
              </a:tr>
              <a:tr h="917749">
                <a:tc>
                  <a:txBody>
                    <a:bodyPr/>
                    <a:lstStyle/>
                    <a:p>
                      <a:pPr algn="ctr">
                        <a:lnSpc>
                          <a:spcPct val="107000"/>
                        </a:lnSpc>
                        <a:spcAft>
                          <a:spcPts val="800"/>
                        </a:spcAft>
                        <a:buNone/>
                      </a:pPr>
                      <a:r>
                        <a:rPr lang="fr-FR" sz="1800" kern="100">
                          <a:effectLst/>
                        </a:rPr>
                        <a:t>Suppression de new Function</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5</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5</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3</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8,3</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008673986"/>
                  </a:ext>
                </a:extLst>
              </a:tr>
              <a:tr h="785806">
                <a:tc>
                  <a:txBody>
                    <a:bodyPr/>
                    <a:lstStyle/>
                    <a:p>
                      <a:pPr algn="ctr">
                        <a:lnSpc>
                          <a:spcPct val="107000"/>
                        </a:lnSpc>
                        <a:spcAft>
                          <a:spcPts val="800"/>
                        </a:spcAft>
                        <a:buNone/>
                      </a:pPr>
                      <a:r>
                        <a:rPr lang="fr-FR" sz="1800" kern="100">
                          <a:effectLst/>
                        </a:rPr>
                        <a:t>Secrets manager</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5</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5</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3</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8,3</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282898116"/>
                  </a:ext>
                </a:extLst>
              </a:tr>
              <a:tr h="917749">
                <a:tc>
                  <a:txBody>
                    <a:bodyPr/>
                    <a:lstStyle/>
                    <a:p>
                      <a:pPr algn="ctr">
                        <a:lnSpc>
                          <a:spcPct val="107000"/>
                        </a:lnSpc>
                        <a:spcAft>
                          <a:spcPts val="800"/>
                        </a:spcAft>
                        <a:buNone/>
                      </a:pPr>
                      <a:r>
                        <a:rPr lang="fr-FR" sz="1800" kern="100">
                          <a:effectLst/>
                        </a:rPr>
                        <a:t>Consentements séparés</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4</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4</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3</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5,3</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81970351"/>
                  </a:ext>
                </a:extLst>
              </a:tr>
              <a:tr h="763877">
                <a:tc>
                  <a:txBody>
                    <a:bodyPr/>
                    <a:lstStyle/>
                    <a:p>
                      <a:pPr algn="ctr">
                        <a:lnSpc>
                          <a:spcPct val="107000"/>
                        </a:lnSpc>
                        <a:spcAft>
                          <a:spcPts val="800"/>
                        </a:spcAft>
                        <a:buNone/>
                      </a:pPr>
                      <a:r>
                        <a:rPr lang="fr-FR" sz="1800" kern="100" dirty="0">
                          <a:effectLst/>
                        </a:rPr>
                        <a:t>Conservation/purge</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4</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4</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4</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dirty="0">
                          <a:effectLst/>
                        </a:rPr>
                        <a:t>4</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686473600"/>
                  </a:ext>
                </a:extLst>
              </a:tr>
            </a:tbl>
          </a:graphicData>
        </a:graphic>
      </p:graphicFrame>
      <p:sp>
        <p:nvSpPr>
          <p:cNvPr id="3" name="Rectangle 1">
            <a:extLst>
              <a:ext uri="{FF2B5EF4-FFF2-40B4-BE49-F238E27FC236}">
                <a16:creationId xmlns:a16="http://schemas.microsoft.com/office/drawing/2014/main" id="{6483B9AB-EB4E-50B8-C1B9-CCEC3B88A795}"/>
              </a:ext>
            </a:extLst>
          </p:cNvPr>
          <p:cNvSpPr>
            <a:spLocks noChangeArrowheads="1"/>
          </p:cNvSpPr>
          <p:nvPr/>
        </p:nvSpPr>
        <p:spPr bwMode="auto">
          <a:xfrm>
            <a:off x="231681" y="105433"/>
            <a:ext cx="9012404" cy="84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D3. Estimation et priorisation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Méthode retenue : </a:t>
            </a:r>
            <a:r>
              <a:rPr kumimoji="0" lang="fr-FR" altLang="fr-FR" sz="11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Risque × Valeur / Effort</a:t>
            </a:r>
            <a:r>
              <a:rPr kumimoji="0" lang="fr-FR" altLang="fr-F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avec priorité P0 lorsque l’action réduit un risque de fuite de données de santé ou une compromission d’accès.</a:t>
            </a:r>
            <a:endParaRPr kumimoji="0" lang="fr-FR" altLang="fr-FR"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52217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486E1-C10C-91D7-8027-EE63A5D7D298}"/>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E7EBD347-43AE-569B-0EEA-A389D2B5C5DD}"/>
              </a:ext>
            </a:extLst>
          </p:cNvPr>
          <p:cNvGraphicFramePr>
            <a:graphicFrameLocks noGrp="1"/>
          </p:cNvGraphicFramePr>
          <p:nvPr>
            <p:extLst>
              <p:ext uri="{D42A27DB-BD31-4B8C-83A1-F6EECF244321}">
                <p14:modId xmlns:p14="http://schemas.microsoft.com/office/powerpoint/2010/main" val="44067839"/>
              </p:ext>
            </p:extLst>
          </p:nvPr>
        </p:nvGraphicFramePr>
        <p:xfrm>
          <a:off x="262833" y="844451"/>
          <a:ext cx="11656640" cy="5656254"/>
        </p:xfrm>
        <a:graphic>
          <a:graphicData uri="http://schemas.openxmlformats.org/drawingml/2006/table">
            <a:tbl>
              <a:tblPr firstRow="1" firstCol="1" bandRow="1">
                <a:tableStyleId>{616DA210-FB5B-4158-B5E0-FEB733F419BA}</a:tableStyleId>
              </a:tblPr>
              <a:tblGrid>
                <a:gridCol w="2049054">
                  <a:extLst>
                    <a:ext uri="{9D8B030D-6E8A-4147-A177-3AD203B41FA5}">
                      <a16:colId xmlns:a16="http://schemas.microsoft.com/office/drawing/2014/main" val="1633036976"/>
                    </a:ext>
                  </a:extLst>
                </a:gridCol>
                <a:gridCol w="9607586">
                  <a:extLst>
                    <a:ext uri="{9D8B030D-6E8A-4147-A177-3AD203B41FA5}">
                      <a16:colId xmlns:a16="http://schemas.microsoft.com/office/drawing/2014/main" val="3501385470"/>
                    </a:ext>
                  </a:extLst>
                </a:gridCol>
              </a:tblGrid>
              <a:tr h="943784">
                <a:tc>
                  <a:txBody>
                    <a:bodyPr/>
                    <a:lstStyle/>
                    <a:p>
                      <a:pPr algn="ctr">
                        <a:lnSpc>
                          <a:spcPct val="107000"/>
                        </a:lnSpc>
                        <a:spcAft>
                          <a:spcPts val="800"/>
                        </a:spcAft>
                        <a:buNone/>
                      </a:pPr>
                      <a:r>
                        <a:rPr lang="fr-FR" sz="2400" kern="100">
                          <a:effectLst/>
                        </a:rPr>
                        <a:t>Sprint 0</a:t>
                      </a:r>
                      <a:br>
                        <a:rPr lang="fr-FR" sz="2400" kern="100">
                          <a:effectLst/>
                        </a:rPr>
                      </a:br>
                      <a:r>
                        <a:rPr lang="fr-FR" sz="2400" kern="100">
                          <a:effectLst/>
                        </a:rPr>
                        <a:t>1–2 j</a:t>
                      </a:r>
                      <a:endParaRPr lang="fr-FR" sz="2400"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2400" kern="100">
                          <a:effectLst/>
                        </a:rPr>
                        <a:t>Confinement. Rotation des secrets, invalidation sessions, blocage export, collecte des preuves et qualification de la fuite.</a:t>
                      </a:r>
                      <a:endParaRPr lang="fr-FR" sz="2400"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925446998"/>
                  </a:ext>
                </a:extLst>
              </a:tr>
              <a:tr h="1244472">
                <a:tc>
                  <a:txBody>
                    <a:bodyPr/>
                    <a:lstStyle/>
                    <a:p>
                      <a:pPr algn="ctr">
                        <a:lnSpc>
                          <a:spcPct val="107000"/>
                        </a:lnSpc>
                        <a:spcAft>
                          <a:spcPts val="800"/>
                        </a:spcAft>
                        <a:buNone/>
                      </a:pPr>
                      <a:r>
                        <a:rPr lang="fr-FR" sz="2400" kern="100">
                          <a:effectLst/>
                        </a:rPr>
                        <a:t>Sprint 1</a:t>
                      </a:r>
                      <a:br>
                        <a:rPr lang="fr-FR" sz="2400" kern="100">
                          <a:effectLst/>
                        </a:rPr>
                      </a:br>
                      <a:r>
                        <a:rPr lang="fr-FR" sz="2400" kern="100">
                          <a:effectLst/>
                        </a:rPr>
                        <a:t>1 sem.</a:t>
                      </a:r>
                      <a:endParaRPr lang="fr-FR" sz="2400"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2400" kern="100" dirty="0">
                          <a:effectLst/>
                        </a:rPr>
                        <a:t>Accès &amp; authentification. RBAC/ABAC, contrôle objet, </a:t>
                      </a:r>
                      <a:r>
                        <a:rPr lang="fr-FR" sz="2400" kern="100" dirty="0" err="1">
                          <a:effectLst/>
                        </a:rPr>
                        <a:t>tokens</a:t>
                      </a:r>
                      <a:r>
                        <a:rPr lang="fr-FR" sz="2400" kern="100" dirty="0">
                          <a:effectLst/>
                        </a:rPr>
                        <a:t> aléatoires, expiration, </a:t>
                      </a:r>
                      <a:r>
                        <a:rPr lang="fr-FR" sz="2400" kern="100" dirty="0" err="1">
                          <a:effectLst/>
                        </a:rPr>
                        <a:t>hashing</a:t>
                      </a:r>
                      <a:r>
                        <a:rPr lang="fr-FR" sz="2400" kern="100" dirty="0">
                          <a:effectLst/>
                        </a:rPr>
                        <a:t> moderne.</a:t>
                      </a:r>
                    </a:p>
                    <a:p>
                      <a:pPr algn="ctr">
                        <a:lnSpc>
                          <a:spcPct val="107000"/>
                        </a:lnSpc>
                        <a:spcAft>
                          <a:spcPts val="800"/>
                        </a:spcAft>
                        <a:buNone/>
                      </a:pPr>
                      <a:r>
                        <a:rPr lang="fr-FR" sz="2400" kern="100" dirty="0">
                          <a:effectLst/>
                        </a:rPr>
                        <a:t> </a:t>
                      </a:r>
                      <a:endParaRPr lang="fr-FR" sz="2400" kern="1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098946937"/>
                  </a:ext>
                </a:extLst>
              </a:tr>
              <a:tr h="1727077">
                <a:tc>
                  <a:txBody>
                    <a:bodyPr/>
                    <a:lstStyle/>
                    <a:p>
                      <a:pPr algn="ctr">
                        <a:lnSpc>
                          <a:spcPct val="107000"/>
                        </a:lnSpc>
                        <a:spcAft>
                          <a:spcPts val="800"/>
                        </a:spcAft>
                        <a:buNone/>
                      </a:pPr>
                      <a:r>
                        <a:rPr lang="fr-FR" sz="2400" kern="100">
                          <a:effectLst/>
                        </a:rPr>
                        <a:t>Sprint 2</a:t>
                      </a:r>
                      <a:br>
                        <a:rPr lang="fr-FR" sz="2400" kern="100">
                          <a:effectLst/>
                        </a:rPr>
                      </a:br>
                      <a:r>
                        <a:rPr lang="fr-FR" sz="2400" kern="100">
                          <a:effectLst/>
                        </a:rPr>
                        <a:t>1 sem.</a:t>
                      </a:r>
                      <a:endParaRPr lang="fr-FR" sz="2400"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2400" kern="100">
                          <a:effectLst/>
                        </a:rPr>
                        <a:t>Données &amp; consentements. Parcours de consentement, minimisation, politique de conservation, AIPD et information utilisateur.</a:t>
                      </a:r>
                    </a:p>
                    <a:p>
                      <a:pPr algn="ctr">
                        <a:lnSpc>
                          <a:spcPct val="107000"/>
                        </a:lnSpc>
                        <a:spcAft>
                          <a:spcPts val="800"/>
                        </a:spcAft>
                        <a:buNone/>
                      </a:pPr>
                      <a:r>
                        <a:rPr lang="fr-FR" sz="2400" kern="100">
                          <a:effectLst/>
                        </a:rPr>
                        <a:t> </a:t>
                      </a:r>
                      <a:endParaRPr lang="fr-FR" sz="2400"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09252528"/>
                  </a:ext>
                </a:extLst>
              </a:tr>
              <a:tr h="1727077">
                <a:tc>
                  <a:txBody>
                    <a:bodyPr/>
                    <a:lstStyle/>
                    <a:p>
                      <a:pPr algn="ctr">
                        <a:lnSpc>
                          <a:spcPct val="107000"/>
                        </a:lnSpc>
                        <a:spcAft>
                          <a:spcPts val="800"/>
                        </a:spcAft>
                        <a:buNone/>
                      </a:pPr>
                      <a:r>
                        <a:rPr lang="fr-FR" sz="2400" kern="100">
                          <a:effectLst/>
                        </a:rPr>
                        <a:t>Sprint 3</a:t>
                      </a:r>
                      <a:br>
                        <a:rPr lang="fr-FR" sz="2400" kern="100">
                          <a:effectLst/>
                        </a:rPr>
                      </a:br>
                      <a:r>
                        <a:rPr lang="fr-FR" sz="2400" kern="100">
                          <a:effectLst/>
                        </a:rPr>
                        <a:t>1 sem.</a:t>
                      </a:r>
                      <a:endParaRPr lang="fr-FR" sz="2400"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2400" kern="100" dirty="0">
                          <a:effectLst/>
                        </a:rPr>
                        <a:t>Export &amp; </a:t>
                      </a:r>
                      <a:r>
                        <a:rPr lang="fr-FR" sz="2400" kern="100" dirty="0" err="1">
                          <a:effectLst/>
                        </a:rPr>
                        <a:t>DevSecOps</a:t>
                      </a:r>
                      <a:r>
                        <a:rPr lang="fr-FR" sz="2400" kern="100" dirty="0">
                          <a:effectLst/>
                        </a:rPr>
                        <a:t>. Export </a:t>
                      </a:r>
                      <a:r>
                        <a:rPr lang="fr-FR" sz="2400" kern="100" dirty="0" err="1">
                          <a:effectLst/>
                        </a:rPr>
                        <a:t>allow</a:t>
                      </a:r>
                      <a:r>
                        <a:rPr lang="fr-FR" sz="2400" kern="100" dirty="0">
                          <a:effectLst/>
                        </a:rPr>
                        <a:t>-listé, secret scanning, SAST, tests d’autorisation, dépendances et monitoring.</a:t>
                      </a:r>
                    </a:p>
                    <a:p>
                      <a:pPr algn="ctr">
                        <a:lnSpc>
                          <a:spcPct val="107000"/>
                        </a:lnSpc>
                        <a:spcAft>
                          <a:spcPts val="800"/>
                        </a:spcAft>
                        <a:buNone/>
                      </a:pPr>
                      <a:r>
                        <a:rPr lang="fr-FR" sz="2400" kern="100" dirty="0">
                          <a:effectLst/>
                        </a:rPr>
                        <a:t> </a:t>
                      </a:r>
                      <a:endParaRPr lang="fr-FR" sz="2400" kern="1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997473451"/>
                  </a:ext>
                </a:extLst>
              </a:tr>
            </a:tbl>
          </a:graphicData>
        </a:graphic>
      </p:graphicFrame>
      <p:sp>
        <p:nvSpPr>
          <p:cNvPr id="3" name="Rectangle 1">
            <a:extLst>
              <a:ext uri="{FF2B5EF4-FFF2-40B4-BE49-F238E27FC236}">
                <a16:creationId xmlns:a16="http://schemas.microsoft.com/office/drawing/2014/main" id="{894A4288-B6C0-94E2-18EA-4A43C1E6BB2F}"/>
              </a:ext>
            </a:extLst>
          </p:cNvPr>
          <p:cNvSpPr>
            <a:spLocks noChangeArrowheads="1"/>
          </p:cNvSpPr>
          <p:nvPr/>
        </p:nvSpPr>
        <p:spPr bwMode="auto">
          <a:xfrm>
            <a:off x="262833" y="29578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D4. Découpage en sprints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50037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A7165-2656-8D87-A59C-1BF97153F87E}"/>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95529C51-B1CD-01C3-4AF7-F2A30FB6C5AA}"/>
              </a:ext>
            </a:extLst>
          </p:cNvPr>
          <p:cNvSpPr txBox="1"/>
          <p:nvPr/>
        </p:nvSpPr>
        <p:spPr>
          <a:xfrm>
            <a:off x="723452" y="375321"/>
            <a:ext cx="10787230" cy="4158190"/>
          </a:xfrm>
          <a:prstGeom prst="rect">
            <a:avLst/>
          </a:prstGeom>
          <a:noFill/>
        </p:spPr>
        <p:txBody>
          <a:bodyPr wrap="square">
            <a:spAutoFit/>
          </a:bodyPr>
          <a:lstStyle/>
          <a:p>
            <a:pPr>
              <a:lnSpc>
                <a:spcPct val="107000"/>
              </a:lnSpc>
              <a:spcBef>
                <a:spcPts val="800"/>
              </a:spcBef>
              <a:spcAft>
                <a:spcPts val="400"/>
              </a:spcAft>
              <a:buNone/>
            </a:pPr>
            <a:r>
              <a:rPr lang="fr-FR" sz="36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D5. Définition des Buts</a:t>
            </a:r>
          </a:p>
          <a:p>
            <a:pPr>
              <a:lnSpc>
                <a:spcPct val="107000"/>
              </a:lnSpc>
              <a:spcBef>
                <a:spcPts val="800"/>
              </a:spcBef>
              <a:spcAft>
                <a:spcPts val="400"/>
              </a:spcAft>
              <a:buNone/>
            </a:pPr>
            <a:endParaRPr lang="fr-FR" sz="36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fr-FR" sz="1800" kern="100" dirty="0">
                <a:effectLst/>
                <a:latin typeface="Calibri" panose="020F0502020204030204" pitchFamily="34" charset="0"/>
                <a:ea typeface="Calibri" panose="020F0502020204030204" pitchFamily="34" charset="0"/>
                <a:cs typeface="Arial" panose="020B0604020202020204" pitchFamily="34" charset="0"/>
              </a:rPr>
              <a:t> Code revu par un pair.</a:t>
            </a: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fr-FR" sz="1800" kern="100" dirty="0">
                <a:effectLst/>
                <a:latin typeface="Calibri" panose="020F0502020204030204" pitchFamily="34" charset="0"/>
                <a:ea typeface="Calibri" panose="020F0502020204030204" pitchFamily="34" charset="0"/>
                <a:cs typeface="Arial" panose="020B0604020202020204" pitchFamily="34" charset="0"/>
              </a:rPr>
              <a:t> Tests unitaires/intégration et tests négatifs d’autorisation.</a:t>
            </a: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fr-FR" sz="1800" kern="100" dirty="0">
                <a:effectLst/>
                <a:latin typeface="Calibri" panose="020F0502020204030204" pitchFamily="34" charset="0"/>
                <a:ea typeface="Calibri" panose="020F0502020204030204" pitchFamily="34" charset="0"/>
                <a:cs typeface="Arial" panose="020B0604020202020204" pitchFamily="34" charset="0"/>
              </a:rPr>
              <a:t> Aucun secret dans le dépôt, logs ou artefacts.</a:t>
            </a: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fr-FR" sz="1800" kern="100" dirty="0">
                <a:effectLst/>
                <a:latin typeface="Calibri" panose="020F0502020204030204" pitchFamily="34" charset="0"/>
                <a:ea typeface="Calibri" panose="020F0502020204030204" pitchFamily="34" charset="0"/>
                <a:cs typeface="Arial" panose="020B0604020202020204" pitchFamily="34" charset="0"/>
              </a:rPr>
              <a:t> Données personnelles minimisées et finalité documentée.</a:t>
            </a: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fr-FR" sz="1800" kern="100" dirty="0">
                <a:effectLst/>
                <a:latin typeface="Calibri" panose="020F0502020204030204" pitchFamily="34" charset="0"/>
                <a:ea typeface="Calibri" panose="020F0502020204030204" pitchFamily="34" charset="0"/>
                <a:cs typeface="Arial" panose="020B0604020202020204" pitchFamily="34" charset="0"/>
              </a:rPr>
              <a:t> DPO valide les changements affectant finalité, base légale, consentement, conservation ou destinataires.</a:t>
            </a: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fr-FR" sz="1800" kern="100" dirty="0">
                <a:effectLst/>
                <a:latin typeface="Calibri" panose="020F0502020204030204" pitchFamily="34" charset="0"/>
                <a:ea typeface="Calibri" panose="020F0502020204030204" pitchFamily="34" charset="0"/>
                <a:cs typeface="Arial" panose="020B0604020202020204" pitchFamily="34" charset="0"/>
              </a:rPr>
              <a:t> RSSI valide les changements à risque élevé.</a:t>
            </a: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fr-FR" sz="1800" kern="100" dirty="0">
                <a:effectLst/>
                <a:latin typeface="Calibri" panose="020F0502020204030204" pitchFamily="34" charset="0"/>
                <a:ea typeface="Calibri" panose="020F0502020204030204" pitchFamily="34" charset="0"/>
                <a:cs typeface="Arial" panose="020B0604020202020204" pitchFamily="34" charset="0"/>
              </a:rPr>
              <a:t> Preuve de non-régression jointe au ticket.</a:t>
            </a:r>
          </a:p>
        </p:txBody>
      </p:sp>
    </p:spTree>
    <p:extLst>
      <p:ext uri="{BB962C8B-B14F-4D97-AF65-F5344CB8AC3E}">
        <p14:creationId xmlns:p14="http://schemas.microsoft.com/office/powerpoint/2010/main" val="2892637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14896-76EF-8405-C72E-9149B6CBC9A0}"/>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4E58A826-E6CB-49BB-C88F-3C99BEECA8C2}"/>
              </a:ext>
            </a:extLst>
          </p:cNvPr>
          <p:cNvGraphicFramePr>
            <a:graphicFrameLocks noGrp="1"/>
          </p:cNvGraphicFramePr>
          <p:nvPr>
            <p:extLst>
              <p:ext uri="{D42A27DB-BD31-4B8C-83A1-F6EECF244321}">
                <p14:modId xmlns:p14="http://schemas.microsoft.com/office/powerpoint/2010/main" val="1905833311"/>
              </p:ext>
            </p:extLst>
          </p:nvPr>
        </p:nvGraphicFramePr>
        <p:xfrm>
          <a:off x="395549" y="843543"/>
          <a:ext cx="11341044" cy="5735541"/>
        </p:xfrm>
        <a:graphic>
          <a:graphicData uri="http://schemas.openxmlformats.org/drawingml/2006/table">
            <a:tbl>
              <a:tblPr firstRow="1" firstCol="1" bandRow="1">
                <a:tableStyleId>{616DA210-FB5B-4158-B5E0-FEB733F419BA}</a:tableStyleId>
              </a:tblPr>
              <a:tblGrid>
                <a:gridCol w="2143256">
                  <a:extLst>
                    <a:ext uri="{9D8B030D-6E8A-4147-A177-3AD203B41FA5}">
                      <a16:colId xmlns:a16="http://schemas.microsoft.com/office/drawing/2014/main" val="530376559"/>
                    </a:ext>
                  </a:extLst>
                </a:gridCol>
                <a:gridCol w="4087906">
                  <a:extLst>
                    <a:ext uri="{9D8B030D-6E8A-4147-A177-3AD203B41FA5}">
                      <a16:colId xmlns:a16="http://schemas.microsoft.com/office/drawing/2014/main" val="1786236416"/>
                    </a:ext>
                  </a:extLst>
                </a:gridCol>
                <a:gridCol w="5109882">
                  <a:extLst>
                    <a:ext uri="{9D8B030D-6E8A-4147-A177-3AD203B41FA5}">
                      <a16:colId xmlns:a16="http://schemas.microsoft.com/office/drawing/2014/main" val="1453615616"/>
                    </a:ext>
                  </a:extLst>
                </a:gridCol>
              </a:tblGrid>
              <a:tr h="948162">
                <a:tc>
                  <a:txBody>
                    <a:bodyPr/>
                    <a:lstStyle/>
                    <a:p>
                      <a:pPr algn="ctr">
                        <a:lnSpc>
                          <a:spcPct val="107000"/>
                        </a:lnSpc>
                        <a:spcAft>
                          <a:spcPts val="800"/>
                        </a:spcAft>
                        <a:buNone/>
                      </a:pPr>
                      <a:r>
                        <a:rPr lang="fr-FR" sz="1800" kern="100" dirty="0">
                          <a:effectLst/>
                        </a:rPr>
                        <a:t>Élément</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Cadence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But</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518121986"/>
                  </a:ext>
                </a:extLst>
              </a:tr>
              <a:tr h="918794">
                <a:tc>
                  <a:txBody>
                    <a:bodyPr/>
                    <a:lstStyle/>
                    <a:p>
                      <a:pPr algn="ctr">
                        <a:lnSpc>
                          <a:spcPct val="107000"/>
                        </a:lnSpc>
                        <a:spcAft>
                          <a:spcPts val="800"/>
                        </a:spcAft>
                        <a:buNone/>
                      </a:pPr>
                      <a:r>
                        <a:rPr lang="fr-FR" sz="1800" kern="100">
                          <a:effectLst/>
                        </a:rPr>
                        <a:t>Daily</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Quotidien</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Blocages et risques.</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52198981"/>
                  </a:ext>
                </a:extLst>
              </a:tr>
              <a:tr h="948162">
                <a:tc>
                  <a:txBody>
                    <a:bodyPr/>
                    <a:lstStyle/>
                    <a:p>
                      <a:pPr algn="ctr">
                        <a:lnSpc>
                          <a:spcPct val="107000"/>
                        </a:lnSpc>
                        <a:spcAft>
                          <a:spcPts val="800"/>
                        </a:spcAft>
                        <a:buNone/>
                      </a:pPr>
                      <a:r>
                        <a:rPr lang="fr-FR" sz="1800" kern="100">
                          <a:effectLst/>
                        </a:rPr>
                        <a:t>Planning</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Début de sprint</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Engagement sur capacité réelle.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686100786"/>
                  </a:ext>
                </a:extLst>
              </a:tr>
              <a:tr h="918794">
                <a:tc>
                  <a:txBody>
                    <a:bodyPr/>
                    <a:lstStyle/>
                    <a:p>
                      <a:pPr algn="ctr">
                        <a:lnSpc>
                          <a:spcPct val="107000"/>
                        </a:lnSpc>
                        <a:spcAft>
                          <a:spcPts val="800"/>
                        </a:spcAft>
                        <a:buNone/>
                      </a:pPr>
                      <a:r>
                        <a:rPr lang="fr-FR" sz="1800" kern="100">
                          <a:effectLst/>
                        </a:rPr>
                        <a:t>Review</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Fin de sprint</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Démonstration des contrôles et preuves.</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911473257"/>
                  </a:ext>
                </a:extLst>
              </a:tr>
              <a:tr h="948162">
                <a:tc>
                  <a:txBody>
                    <a:bodyPr/>
                    <a:lstStyle/>
                    <a:p>
                      <a:pPr algn="ctr">
                        <a:lnSpc>
                          <a:spcPct val="107000"/>
                        </a:lnSpc>
                        <a:spcAft>
                          <a:spcPts val="800"/>
                        </a:spcAft>
                        <a:buNone/>
                      </a:pPr>
                      <a:r>
                        <a:rPr lang="fr-FR" sz="1800" kern="100">
                          <a:effectLst/>
                        </a:rPr>
                        <a:t>Rétrospective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Fin de sprint</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Amélioration continue.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29337298"/>
                  </a:ext>
                </a:extLst>
              </a:tr>
              <a:tr h="1053467">
                <a:tc>
                  <a:txBody>
                    <a:bodyPr/>
                    <a:lstStyle/>
                    <a:p>
                      <a:pPr algn="ctr">
                        <a:lnSpc>
                          <a:spcPct val="107000"/>
                        </a:lnSpc>
                        <a:spcAft>
                          <a:spcPts val="800"/>
                        </a:spcAft>
                        <a:buNone/>
                      </a:pPr>
                      <a:r>
                        <a:rPr lang="fr-FR" sz="1800" kern="100">
                          <a:effectLst/>
                        </a:rPr>
                        <a:t>Comité sécurité/RGPD</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a:effectLst/>
                        </a:rPr>
                        <a:t>Hebdomadaire</a:t>
                      </a:r>
                      <a:endParaRPr lang="fr-FR"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fr-FR" sz="1800" kern="100" dirty="0">
                          <a:effectLst/>
                        </a:rPr>
                        <a:t>DPO + RSSI + PO : risques, décisions, exceptions.</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237596925"/>
                  </a:ext>
                </a:extLst>
              </a:tr>
            </a:tbl>
          </a:graphicData>
        </a:graphic>
      </p:graphicFrame>
      <p:sp>
        <p:nvSpPr>
          <p:cNvPr id="3" name="Rectangle 1">
            <a:extLst>
              <a:ext uri="{FF2B5EF4-FFF2-40B4-BE49-F238E27FC236}">
                <a16:creationId xmlns:a16="http://schemas.microsoft.com/office/drawing/2014/main" id="{EAF68971-42D9-96EF-7504-79F9ABF506FA}"/>
              </a:ext>
            </a:extLst>
          </p:cNvPr>
          <p:cNvSpPr>
            <a:spLocks noChangeArrowheads="1"/>
          </p:cNvSpPr>
          <p:nvPr/>
        </p:nvSpPr>
        <p:spPr bwMode="auto">
          <a:xfrm>
            <a:off x="265824" y="27891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dirty="0">
                <a:ln>
                  <a:noFill/>
                </a:ln>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D6. Cérémonies, rôles et indicateurs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627487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BEA90-96F4-68FA-B758-4A13AAA25D35}"/>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DAAD979C-9F39-A051-5D07-348FDD38A0E4}"/>
              </a:ext>
            </a:extLst>
          </p:cNvPr>
          <p:cNvSpPr txBox="1"/>
          <p:nvPr/>
        </p:nvSpPr>
        <p:spPr>
          <a:xfrm>
            <a:off x="387274" y="688490"/>
            <a:ext cx="11564471" cy="4496231"/>
          </a:xfrm>
          <a:prstGeom prst="rect">
            <a:avLst/>
          </a:prstGeom>
          <a:noFill/>
        </p:spPr>
        <p:txBody>
          <a:bodyPr wrap="square">
            <a:spAutoFit/>
          </a:bodyPr>
          <a:lstStyle/>
          <a:p>
            <a:pPr>
              <a:lnSpc>
                <a:spcPct val="107000"/>
              </a:lnSpc>
              <a:spcBef>
                <a:spcPts val="800"/>
              </a:spcBef>
              <a:spcAft>
                <a:spcPts val="400"/>
              </a:spcAft>
              <a:buNone/>
            </a:pPr>
            <a:r>
              <a:rPr lang="fr-FR" sz="3600" b="1" kern="100" dirty="0">
                <a:solidFill>
                  <a:srgbClr val="8EAADB"/>
                </a:solidFill>
                <a:effectLst/>
                <a:latin typeface="Calibri" panose="020F0502020204030204" pitchFamily="34" charset="0"/>
                <a:ea typeface="Times New Roman" panose="02020603050405020304" pitchFamily="18" charset="0"/>
                <a:cs typeface="Times New Roman" panose="02020603050405020304" pitchFamily="18" charset="0"/>
              </a:rPr>
              <a:t>E. Trame de restitution au comité de direction </a:t>
            </a:r>
          </a:p>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Arial" panose="020B0604020202020204" pitchFamily="34" charset="0"/>
              </a:rPr>
              <a:t>0:00–1:00 — Situation</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fr-FR" sz="1800" kern="100" dirty="0">
                <a:effectLst/>
                <a:latin typeface="Calibri" panose="020F0502020204030204" pitchFamily="34" charset="0"/>
                <a:ea typeface="Calibri" panose="020F0502020204030204" pitchFamily="34" charset="0"/>
                <a:cs typeface="Arial" panose="020B0604020202020204" pitchFamily="34" charset="0"/>
              </a:rPr>
              <a:t>« </a:t>
            </a:r>
            <a:r>
              <a:rPr lang="fr-FR" sz="1800" kern="100" dirty="0" err="1">
                <a:effectLst/>
                <a:latin typeface="Calibri" panose="020F0502020204030204" pitchFamily="34" charset="0"/>
                <a:ea typeface="Calibri" panose="020F0502020204030204" pitchFamily="34" charset="0"/>
                <a:cs typeface="Arial" panose="020B0604020202020204" pitchFamily="34" charset="0"/>
              </a:rPr>
              <a:t>WellWork</a:t>
            </a:r>
            <a:r>
              <a:rPr lang="fr-FR" sz="1800" kern="100" dirty="0">
                <a:effectLst/>
                <a:latin typeface="Calibri" panose="020F0502020204030204" pitchFamily="34" charset="0"/>
                <a:ea typeface="Calibri" panose="020F0502020204030204" pitchFamily="34" charset="0"/>
                <a:cs typeface="Arial" panose="020B0604020202020204" pitchFamily="34" charset="0"/>
              </a:rPr>
              <a:t> traite des données personnelles dont certaines sont des données de santé. L’audit montre que le produit a grandi plus vite que ses contrôles de sécurité et de conformité. Une fuite sur un forum rend le sujet immédiat. »</a:t>
            </a:r>
          </a:p>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Arial" panose="020B0604020202020204" pitchFamily="34" charset="0"/>
              </a:rPr>
              <a:t>1:00–2:00 — Risques</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fr-FR" sz="1800" kern="100" dirty="0">
                <a:effectLst/>
                <a:latin typeface="Calibri" panose="020F0502020204030204" pitchFamily="34" charset="0"/>
                <a:ea typeface="Calibri" panose="020F0502020204030204" pitchFamily="34" charset="0"/>
                <a:cs typeface="Arial" panose="020B0604020202020204" pitchFamily="34" charset="0"/>
              </a:rPr>
              <a:t>« Les risques prioritaires sont l’accès non autorisé aux questionnaires, la fuite de mots de passe par les logs, les secrets techniques présents dans le code et un mécanisme d’injection permettant de contrôler une expression exécutée côté serveur. À cela s’ajoutent des problèmes de consentement, de conservation et de minimisation. »</a:t>
            </a:r>
          </a:p>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Arial" panose="020B0604020202020204" pitchFamily="34" charset="0"/>
              </a:rPr>
              <a:t>2:00–3:00 — Plan</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fr-FR" sz="1800" kern="100" dirty="0">
                <a:effectLst/>
                <a:latin typeface="Calibri" panose="020F0502020204030204" pitchFamily="34" charset="0"/>
                <a:ea typeface="Calibri" panose="020F0502020204030204" pitchFamily="34" charset="0"/>
                <a:cs typeface="Arial" panose="020B0604020202020204" pitchFamily="34" charset="0"/>
              </a:rPr>
              <a:t>« Nous confinons d’abord : rotation des secrets, révocation des sessions, blocage des exports et préservation des preuves. Ensuite, nous sécurisons les accès et l’authentification. Enfin, nous industrialisons la conformité : consentements, conservation, AIPD, export minimal et contrôles CI. »</a:t>
            </a:r>
          </a:p>
        </p:txBody>
      </p:sp>
    </p:spTree>
    <p:extLst>
      <p:ext uri="{BB962C8B-B14F-4D97-AF65-F5344CB8AC3E}">
        <p14:creationId xmlns:p14="http://schemas.microsoft.com/office/powerpoint/2010/main" val="29406857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F6759-D7C6-FBD8-891E-F269BDF465A6}"/>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1D9C7399-26AF-2331-6EDC-C1024FA6221D}"/>
              </a:ext>
            </a:extLst>
          </p:cNvPr>
          <p:cNvSpPr txBox="1"/>
          <p:nvPr/>
        </p:nvSpPr>
        <p:spPr>
          <a:xfrm>
            <a:off x="365760" y="958480"/>
            <a:ext cx="11585986" cy="3760966"/>
          </a:xfrm>
          <a:prstGeom prst="rect">
            <a:avLst/>
          </a:prstGeom>
          <a:noFill/>
        </p:spPr>
        <p:txBody>
          <a:bodyPr wrap="square">
            <a:spAutoFit/>
          </a:bodyPr>
          <a:lstStyle/>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Arial" panose="020B0604020202020204" pitchFamily="34" charset="0"/>
              </a:rPr>
              <a:t>3:00–4:00 — Budget et capacité</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fr-FR" sz="1800" kern="100" dirty="0">
                <a:effectLst/>
                <a:latin typeface="Calibri" panose="020F0502020204030204" pitchFamily="34" charset="0"/>
                <a:ea typeface="Calibri" panose="020F0502020204030204" pitchFamily="34" charset="0"/>
                <a:cs typeface="Arial" panose="020B0604020202020204" pitchFamily="34" charset="0"/>
              </a:rPr>
              <a:t>Hypothèse de pilotage : 5–6 personnes pendant environ 3 à 4 semaines, avec DPO et RSSI impliqués à chaque décision sensible. Le budget doit être validé sur la base du coût interne/jour et des éventuels outils de secret management, SAST, monitoring et accompagnement juridique.</a:t>
            </a:r>
          </a:p>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Arial" panose="020B0604020202020204" pitchFamily="34" charset="0"/>
              </a:rPr>
              <a:t>4:00–5:00 — Décisions demandées</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Font typeface="+mj-lt"/>
              <a:buAutoNum type="arabicPeriod"/>
              <a:tabLst>
                <a:tab pos="457200" algn="l"/>
              </a:tabLst>
            </a:pPr>
            <a:r>
              <a:rPr lang="fr-FR" sz="1800" kern="100" dirty="0">
                <a:effectLst/>
                <a:latin typeface="Calibri" panose="020F0502020204030204" pitchFamily="34" charset="0"/>
                <a:ea typeface="Calibri" panose="020F0502020204030204" pitchFamily="34" charset="0"/>
                <a:cs typeface="Arial" panose="020B0604020202020204" pitchFamily="34" charset="0"/>
              </a:rPr>
              <a:t>Autoriser le confinement immédiat et la rotation des secrets.</a:t>
            </a:r>
          </a:p>
          <a:p>
            <a:pPr marL="342900" lvl="0" indent="-342900">
              <a:lnSpc>
                <a:spcPct val="107000"/>
              </a:lnSpc>
              <a:spcAft>
                <a:spcPts val="800"/>
              </a:spcAft>
              <a:buFont typeface="+mj-lt"/>
              <a:buAutoNum type="arabicPeriod"/>
              <a:tabLst>
                <a:tab pos="457200" algn="l"/>
              </a:tabLst>
            </a:pPr>
            <a:r>
              <a:rPr lang="fr-FR" sz="1800" kern="100" dirty="0">
                <a:effectLst/>
                <a:latin typeface="Calibri" panose="020F0502020204030204" pitchFamily="34" charset="0"/>
                <a:ea typeface="Calibri" panose="020F0502020204030204" pitchFamily="34" charset="0"/>
                <a:cs typeface="Arial" panose="020B0604020202020204" pitchFamily="34" charset="0"/>
              </a:rPr>
              <a:t>Autoriser la suspension temporaire de l’export assureur.</a:t>
            </a:r>
          </a:p>
          <a:p>
            <a:pPr marL="342900" lvl="0" indent="-342900">
              <a:lnSpc>
                <a:spcPct val="107000"/>
              </a:lnSpc>
              <a:spcAft>
                <a:spcPts val="800"/>
              </a:spcAft>
              <a:buFont typeface="+mj-lt"/>
              <a:buAutoNum type="arabicPeriod"/>
              <a:tabLst>
                <a:tab pos="457200" algn="l"/>
              </a:tabLst>
            </a:pPr>
            <a:r>
              <a:rPr lang="fr-FR" sz="1800" kern="100" dirty="0">
                <a:effectLst/>
                <a:latin typeface="Calibri" panose="020F0502020204030204" pitchFamily="34" charset="0"/>
                <a:ea typeface="Calibri" panose="020F0502020204030204" pitchFamily="34" charset="0"/>
                <a:cs typeface="Arial" panose="020B0604020202020204" pitchFamily="34" charset="0"/>
              </a:rPr>
              <a:t>Nommer un propriétaire de risque côté direction.</a:t>
            </a:r>
          </a:p>
          <a:p>
            <a:pPr marL="342900" lvl="0" indent="-342900">
              <a:lnSpc>
                <a:spcPct val="107000"/>
              </a:lnSpc>
              <a:spcAft>
                <a:spcPts val="800"/>
              </a:spcAft>
              <a:buFont typeface="+mj-lt"/>
              <a:buAutoNum type="arabicPeriod"/>
              <a:tabLst>
                <a:tab pos="457200" algn="l"/>
              </a:tabLst>
            </a:pPr>
            <a:r>
              <a:rPr lang="fr-FR" sz="1800" kern="100" dirty="0">
                <a:effectLst/>
                <a:latin typeface="Calibri" panose="020F0502020204030204" pitchFamily="34" charset="0"/>
                <a:ea typeface="Calibri" panose="020F0502020204030204" pitchFamily="34" charset="0"/>
                <a:cs typeface="Arial" panose="020B0604020202020204" pitchFamily="34" charset="0"/>
              </a:rPr>
              <a:t>Valider l’équipe de remédiation et les 4 sprints.</a:t>
            </a:r>
          </a:p>
          <a:p>
            <a:pPr marL="342900" lvl="0" indent="-342900">
              <a:lnSpc>
                <a:spcPct val="107000"/>
              </a:lnSpc>
              <a:spcAft>
                <a:spcPts val="800"/>
              </a:spcAft>
              <a:buFont typeface="+mj-lt"/>
              <a:buAutoNum type="arabicPeriod"/>
              <a:tabLst>
                <a:tab pos="457200" algn="l"/>
              </a:tabLst>
            </a:pPr>
            <a:r>
              <a:rPr lang="fr-FR" sz="1800" kern="100" dirty="0">
                <a:effectLst/>
                <a:latin typeface="Calibri" panose="020F0502020204030204" pitchFamily="34" charset="0"/>
                <a:ea typeface="Calibri" panose="020F0502020204030204" pitchFamily="34" charset="0"/>
                <a:cs typeface="Arial" panose="020B0604020202020204" pitchFamily="34" charset="0"/>
              </a:rPr>
              <a:t>Donner mandat au DPO/RSSI pour qualifier la violation et décider des notifications.</a:t>
            </a:r>
          </a:p>
        </p:txBody>
      </p:sp>
    </p:spTree>
    <p:extLst>
      <p:ext uri="{BB962C8B-B14F-4D97-AF65-F5344CB8AC3E}">
        <p14:creationId xmlns:p14="http://schemas.microsoft.com/office/powerpoint/2010/main" val="30572522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DDD7B-DF02-58E0-EFFC-315E9A02121E}"/>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A32E2C75-6B73-A5F4-12BF-B6EF7FADFB6D}"/>
              </a:ext>
            </a:extLst>
          </p:cNvPr>
          <p:cNvSpPr txBox="1"/>
          <p:nvPr/>
        </p:nvSpPr>
        <p:spPr>
          <a:xfrm>
            <a:off x="279699" y="1251316"/>
            <a:ext cx="11672047" cy="3339889"/>
          </a:xfrm>
          <a:prstGeom prst="rect">
            <a:avLst/>
          </a:prstGeom>
          <a:noFill/>
        </p:spPr>
        <p:txBody>
          <a:bodyPr wrap="square">
            <a:spAutoFit/>
          </a:bodyPr>
          <a:lstStyle/>
          <a:p>
            <a:pPr>
              <a:lnSpc>
                <a:spcPct val="107000"/>
              </a:lnSpc>
              <a:spcBef>
                <a:spcPts val="1800"/>
              </a:spcBef>
              <a:spcAft>
                <a:spcPts val="400"/>
              </a:spcAft>
              <a:buNone/>
            </a:pPr>
            <a:r>
              <a:rPr lang="fr-FR" sz="4400" b="1" kern="100" dirty="0">
                <a:solidFill>
                  <a:srgbClr val="1F3864"/>
                </a:solidFill>
                <a:effectLst/>
                <a:latin typeface="Calibri" panose="020F0502020204030204" pitchFamily="34" charset="0"/>
                <a:ea typeface="Times New Roman" panose="02020603050405020304" pitchFamily="18" charset="0"/>
                <a:cs typeface="Times New Roman" panose="02020603050405020304" pitchFamily="18" charset="0"/>
              </a:rPr>
              <a:t>Annexe — Transparence IA</a:t>
            </a:r>
          </a:p>
          <a:p>
            <a:pPr>
              <a:lnSpc>
                <a:spcPct val="107000"/>
              </a:lnSpc>
              <a:spcAft>
                <a:spcPts val="800"/>
              </a:spcAft>
              <a:buNone/>
            </a:pPr>
            <a:r>
              <a:rPr lang="fr-FR" sz="1800" kern="100" dirty="0">
                <a:effectLst/>
                <a:latin typeface="Calibri" panose="020F0502020204030204" pitchFamily="34" charset="0"/>
                <a:ea typeface="Calibri" panose="020F0502020204030204" pitchFamily="34" charset="0"/>
                <a:cs typeface="Arial" panose="020B0604020202020204" pitchFamily="34" charset="0"/>
              </a:rPr>
              <a:t>Une IA générative a été utilisée comme outil d’assistance à la structuration et à la rédaction du livrable. Détection et corrections des fautes d’orthographes, </a:t>
            </a:r>
          </a:p>
          <a:p>
            <a:pPr>
              <a:lnSpc>
                <a:spcPct val="107000"/>
              </a:lnSpc>
              <a:spcAft>
                <a:spcPts val="800"/>
              </a:spcAft>
              <a:buNone/>
            </a:pPr>
            <a:r>
              <a:rPr lang="fr-FR" sz="1800" b="1" kern="100" dirty="0">
                <a:effectLst/>
                <a:latin typeface="Calibri" panose="020F0502020204030204" pitchFamily="34" charset="0"/>
                <a:ea typeface="Calibri" panose="020F0502020204030204" pitchFamily="34" charset="0"/>
                <a:cs typeface="Arial" panose="020B0604020202020204" pitchFamily="34" charset="0"/>
              </a:rPr>
              <a:t>Usage de l’IA :</a:t>
            </a:r>
            <a:r>
              <a:rPr lang="fr-FR" sz="1800" kern="100" dirty="0">
                <a:effectLst/>
                <a:latin typeface="Calibri" panose="020F0502020204030204" pitchFamily="34" charset="0"/>
                <a:ea typeface="Calibri" panose="020F0502020204030204" pitchFamily="34" charset="0"/>
                <a:cs typeface="Arial" panose="020B0604020202020204" pitchFamily="34" charset="0"/>
              </a:rPr>
              <a:t> </a:t>
            </a:r>
            <a:br>
              <a:rPr lang="fr-FR" sz="1800" kern="100" dirty="0">
                <a:effectLst/>
                <a:latin typeface="Calibri" panose="020F0502020204030204" pitchFamily="34" charset="0"/>
                <a:ea typeface="Calibri" panose="020F0502020204030204" pitchFamily="34" charset="0"/>
                <a:cs typeface="Arial" panose="020B0604020202020204" pitchFamily="34" charset="0"/>
              </a:rPr>
            </a:br>
            <a:r>
              <a:rPr lang="fr-FR" sz="1800" kern="100" dirty="0">
                <a:effectLst/>
                <a:latin typeface="Calibri" panose="020F0502020204030204" pitchFamily="34" charset="0"/>
                <a:ea typeface="Calibri" panose="020F0502020204030204" pitchFamily="34" charset="0"/>
                <a:cs typeface="Arial" panose="020B0604020202020204" pitchFamily="34" charset="0"/>
              </a:rPr>
              <a:t>- Structuration du rapport et reformulation</a:t>
            </a:r>
          </a:p>
          <a:p>
            <a:pPr>
              <a:lnSpc>
                <a:spcPct val="107000"/>
              </a:lnSpc>
              <a:spcAft>
                <a:spcPts val="800"/>
              </a:spcAft>
              <a:buNone/>
            </a:pPr>
            <a:r>
              <a:rPr lang="fr-FR" sz="1800" kern="100" dirty="0">
                <a:effectLst/>
                <a:latin typeface="Calibri" panose="020F0502020204030204" pitchFamily="34" charset="0"/>
                <a:ea typeface="Calibri" panose="020F0502020204030204" pitchFamily="34" charset="0"/>
                <a:cs typeface="Arial" panose="020B0604020202020204" pitchFamily="34" charset="0"/>
              </a:rPr>
              <a:t>- Identification de constats de sécurité à partir du code</a:t>
            </a:r>
          </a:p>
          <a:p>
            <a:pPr>
              <a:lnSpc>
                <a:spcPct val="107000"/>
              </a:lnSpc>
              <a:spcAft>
                <a:spcPts val="800"/>
              </a:spcAft>
              <a:buNone/>
            </a:pPr>
            <a:r>
              <a:rPr lang="fr-FR" sz="1800" kern="100" dirty="0">
                <a:effectLst/>
                <a:latin typeface="Calibri" panose="020F0502020204030204" pitchFamily="34" charset="0"/>
                <a:ea typeface="Calibri" panose="020F0502020204030204" pitchFamily="34" charset="0"/>
                <a:cs typeface="Arial" panose="020B0604020202020204" pitchFamily="34" charset="0"/>
              </a:rPr>
              <a:t>- Proposition de correspondances RGPD/OWASP/CVSS</a:t>
            </a:r>
          </a:p>
          <a:p>
            <a:pPr>
              <a:lnSpc>
                <a:spcPct val="107000"/>
              </a:lnSpc>
              <a:spcAft>
                <a:spcPts val="800"/>
              </a:spcAft>
              <a:buNone/>
            </a:pPr>
            <a:r>
              <a:rPr lang="fr-FR" sz="1800" kern="100" dirty="0">
                <a:effectLst/>
                <a:latin typeface="Calibri" panose="020F0502020204030204" pitchFamily="34" charset="0"/>
                <a:ea typeface="Calibri" panose="020F0502020204030204" pitchFamily="34" charset="0"/>
                <a:cs typeface="Arial" panose="020B0604020202020204" pitchFamily="34" charset="0"/>
              </a:rPr>
              <a:t>- Rédaction de la notification et du plan agile</a:t>
            </a:r>
          </a:p>
        </p:txBody>
      </p:sp>
    </p:spTree>
    <p:extLst>
      <p:ext uri="{BB962C8B-B14F-4D97-AF65-F5344CB8AC3E}">
        <p14:creationId xmlns:p14="http://schemas.microsoft.com/office/powerpoint/2010/main" val="1928697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31</TotalTime>
  <Words>3442</Words>
  <Application>Microsoft Office PowerPoint</Application>
  <PresentationFormat>Grand écran</PresentationFormat>
  <Paragraphs>470</Paragraphs>
  <Slides>28</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28</vt:i4>
      </vt:variant>
    </vt:vector>
  </HeadingPairs>
  <TitlesOfParts>
    <vt:vector size="34" baseType="lpstr">
      <vt:lpstr>Arial</vt:lpstr>
      <vt:lpstr>Calibri</vt:lpstr>
      <vt:lpstr>Consolas</vt:lpstr>
      <vt:lpstr>Segoe UI Symbol</vt:lpstr>
      <vt:lpstr>Symbol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Younes Benaggoun</dc:creator>
  <cp:keywords/>
  <dc:description>generated using python-pptx</dc:description>
  <cp:lastModifiedBy>Younes Benaggoun</cp:lastModifiedBy>
  <cp:revision>28</cp:revision>
  <dcterms:created xsi:type="dcterms:W3CDTF">2013-01-27T09:14:16Z</dcterms:created>
  <dcterms:modified xsi:type="dcterms:W3CDTF">2026-10-09T16:08:01Z</dcterms:modified>
  <cp:category/>
</cp:coreProperties>
</file>